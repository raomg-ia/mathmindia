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7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6496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en dos capas, como el propio TFM: el producto (una app real, funcional, con 4 niveles académicos) y el proceso (cómo se construyó, con agentes de IA especializados gobernados por reglas explícitas y medidos con datos, no solo descritos).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objeto de estudio no es solo la app. Es demostrar que un desarrollo con agentes de IA puede seguir Clean Architecture, TDD y decisiones arquitectónicas formales (ADRs) de forma verificable — y, más importante, documentar honestamente dónde ese proceso falló y qué mecanismo se introdujo para corregirlo. Esa segunda parte es el aporte académico más defendible, y se detalla en los bloques 12-19.</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README.md lo resume así. La distinción Test/Resolución no es solo de UI — cambia el contrato de datos (Exercise.options solo existe en Test) y el sistema de pistas (solo aplica en Resolución). Esa regla de negocio está modelada como invariante de dominio, no como un if disperso en el código.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flecha del diagrama es una pantalla real de apps/mobile-app (Expo Router — Android, iOS y Web desde una única base de código). El catálogo de 23 Temas no es una lista estática: vive en base de datos (GET /temas), sembrado desde ADR-006. US-008 (subir material de referencia para el RAG) es la única historia que queda fuera del uso del estudiante — es una herramienta de administrador de contenido, no parte de la experiencia MVP.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capturas reales, seguidas de principio a fin en el mismo backend real: elegir Tema y Nivel en Home, terminar la sesión y ver el Resumen (aciertos, tiempo medio, variación de rating), y el desglose acumulado en Estadísticas. Nada de esto es mockup — es el build web real (expo export) contra el backend real en local.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AdaptiveDifficultyEngine fue el primer componente de dominio construido con TDD real (Red→Green desde el primer commit). Es puro — sin dependencias de framework — y demostrable con 8/8 tests en verde. Aquí también entra el bug real #27 (slide 17): la semilla inicial ignoraba el nivel académico porque todos los tests usaban Secundaria por defecto, enmascarando el fallo.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Decisión de arquitectura documentada en README como "Estrategia de Inteligencia Artificial". El Pool de Ejercicios (ExerciseRepository.findByDifficultyBand) hace posible esto: seleccionar el siguiente ejercicio es determinista y rápido, sin llamar al LLM en el camino feliz. Solo si el pool se agota de verdad hay un flujo de última instancia (UC-008 flujo 2b) que genera bajo demanda.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decisión de pgvector sobre Chroma se tomó comparando explícitamente ambas: el cliente JS de LangChain para Chroma exige un servidor HTTP aparte, sin modo embebido en Node. Con pgvector, embeddings y registro de ingesta viven en la misma base. Riesgo aceptado y documentado: el contenido ingerido es una tercera fuente de prompt injection no mitigada aún, señalada explícitamente a Security.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regla de reutilización obligatoria prohíbe duplicar entidades, DTOs o utilidades entre apps — todo lo compartido vive en packages/shared-*. La elección de Prisma se ratificó explícitamente en ADR-013 (antes solo aparecía mencionada, no decidida). El backend expone una API REST documentada (openapi.yaml), consumida por mobile-app vía TanStack Query.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ADR-004 formaliza lo que estaba disperso. No modelar ExercisePool como entidad evita duplicar el mismo dato (difficulty) en dos sitios sincronizados. La invariante de type coincidente parece obvia sobre el papel, pero no se aplicaba en el código real hasta el incidente #62 (slide 17) — ejemplo directo de la brecha entre "documentado" e "implementado".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primera versión de seguridad era un paquete de 5 ADRs pensado para Vault/RBAC/Zero Trust — sobredimensionado para un TFM sin esa infraestructura. Se sustituyó por un ADR-012 único, proporcional al riesgo real. El pipeline de CI/CD es real y se ejecuta en cada push — incluida una corrección muy reciente (19-20 de agosto) de un desajuste en el trust policy de OIDC, ejemplo de iteración sobre infraestructura real.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empieza el segundo objeto de estudio del TFM. 8 agentes operativos con responsabilidades y restricciones explícitas — Test no puede implementar código productivo, Developer no puede crear código sin tests previos. El QA Agent se eliminó deliberadamente (ADR-002). Esta diapositiva es la promesa de diseño — las siguientes muestran qué pasó al contrastarla contra la realidad.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ver qué falló, quiero dejar claro qué reglas aplican a todos los agentes por igual, sin excepción de rol. La más importante para mí es la primera: si hay conflicto entre lo que dice un ADR y lo que pide un prompt puntual, gana el ADR, siempre. Suena obvio, pero es justo la regla que evita que un agente "convenza" al sistema de saltarse una decisión ya tomada. La TDD Enforcement Rule tampoco es un checklist de calidad — forma parte de la arquitectura del sistema, no del proceso: no hay implementación sin test antes. Y la regla de reutilización se verifica con un grep antes de crear nada nuevo, no de memoria.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impacto argumental número 1. El fallo no fue de diseño — el flujo estaba bien pensado. El fallo fue que no existía ningún punto de control mecánico que impidiera saltárselo. Lección explícita del proyecto: la solución no fue "tener más cuidado", fue cambiar el proceso para que saltarse un paso sea visible y bloqueante.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skills del sistema siempre definieron secciones "KPIs" — pero ninguna se medía, porque la trazabilidad era prosa libre no consultable. Paso de gobernanza descrita a gobernanza instrumentada. La migración fue retroactiva a propósito, sobre toda la historia del proyecto, para tener un baseline de KPIs desde el día 1.</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central de la defensa. Incluso después de introducir el Contrato de Handoff, el flujo obligatorio de 7 fases no se cumplió completo en ninguna tarea real del proyecto. Reviewer sigue siendo el eslabón más débil. Lectura honesta: esto no es un fracaso del sistema — es la prueba de que medir en vez de solo describir permite saber esto con certeza.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categorías a propósito: seguridad, lógica de negocio, integración con IA generativa e infraestructura real de nube. Patrón común: los huecos de diseño se revelan al construir el siguiente consumidor real, no en la fase de diseño — varios se diagnosticaron verificando primero con herramientas externas (curl, la propia API de GitHub Actions) antes de tocar código.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todo en este proyecto fue corregir errores, y quiero dedicar una diapositiva a lo que funcionó bien desde el principio. Para mí la más importante es la primera: los ADR nunca se reescriben, se enmiendan con fecha, así que el razonamiento original queda como evidencia aunque nos equivocáramos después. Destaco también la validación de Zod en el borde de los contratos de IA — no confiamos en que el LLM responda exactamente lo que le pedimos, lo comprobamos antes de usarlo, y eso evitó un incidente real que ya hemos visto. Y cuando una decisión previa dejó de tener sentido, como Chroma o el paquete de 5 ADR de seguridad, se cambió y se documentó por qué — nunca en silencio.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me preguntáis cuál es la lección que me llevo de todo el proyecto, es esta diapositiva. El hueco de Reviewer y Security no se cerró la primera vez — volvió a aparecer más adelante, ya en mobile-app. Y ahí entendí que la solución no podía ser "tener más cuidado la próxima vez", tenía que ser un cambio de proceso que hiciera imposible saltárselo en silencio — el contrato de handoff que ya hemos visto. El resto de patrones son más técnicos, pero todos comparten la misma idea de fondo: el problema no se ve hasta que algo real lo atraviesa, ni en el diseño ni en la revisión.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con las dos caras del TFM a la vez: el producto se puede usar de principio a fin hoy mismo, y el proceso que lo construyó queda documentado con evidencia medible, no solo con buenas intenciones. Los errores documentados no son un fracaso — son el material de evidencia principal. Abrir turno de preguntas.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7"/>
        </a:solidFill>
        <a:effectLst/>
      </p:bgPr>
    </p:bg>
    <p:spTree>
      <p:nvGrpSpPr>
        <p:cNvPr id="1" name=""/>
        <p:cNvGrpSpPr/>
        <p:nvPr/>
      </p:nvGrpSpPr>
      <p:grpSpPr>
        <a:xfrm>
          <a:off x="0" y="0"/>
          <a:ext cx="0" cy="0"/>
          <a:chOff x="0" y="0"/>
          <a:chExt cx="0" cy="0"/>
        </a:xfrm>
      </p:grpSpPr>
      <p:sp>
        <p:nvSpPr>
          <p:cNvPr id="2" name="Shape 0"/>
          <p:cNvSpPr/>
          <p:nvPr/>
        </p:nvSpPr>
        <p:spPr>
          <a:xfrm>
            <a:off x="0" y="4434840"/>
            <a:ext cx="12191695" cy="54864"/>
          </a:xfrm>
          <a:prstGeom prst="rect">
            <a:avLst/>
          </a:prstGeom>
          <a:solidFill>
            <a:srgbClr val="4CC9F0"/>
          </a:solidFill>
          <a:ln/>
        </p:spPr>
        <p:txBody>
          <a:bodyPr/>
          <a:lstStyle/>
          <a:p>
            <a:endParaRPr lang="es-ES"/>
          </a:p>
        </p:txBody>
      </p:sp>
      <p:sp>
        <p:nvSpPr>
          <p:cNvPr id="3" name="Text 1"/>
          <p:cNvSpPr/>
          <p:nvPr/>
        </p:nvSpPr>
        <p:spPr>
          <a:xfrm>
            <a:off x="822960" y="2331720"/>
            <a:ext cx="10515600" cy="1188720"/>
          </a:xfrm>
          <a:prstGeom prst="rect">
            <a:avLst/>
          </a:prstGeom>
          <a:noFill/>
          <a:ln/>
        </p:spPr>
        <p:txBody>
          <a:bodyPr wrap="square"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MathMind AI</a:t>
            </a:r>
            <a:endParaRPr lang="en-US" sz="5400" dirty="0"/>
          </a:p>
        </p:txBody>
      </p:sp>
      <p:sp>
        <p:nvSpPr>
          <p:cNvPr id="4" name="Text 2"/>
          <p:cNvSpPr/>
          <p:nvPr/>
        </p:nvSpPr>
        <p:spPr>
          <a:xfrm>
            <a:off x="822960" y="3429000"/>
            <a:ext cx="10515600" cy="822960"/>
          </a:xfrm>
          <a:prstGeom prst="rect">
            <a:avLst/>
          </a:prstGeom>
          <a:noFill/>
          <a:ln/>
        </p:spPr>
        <p:txBody>
          <a:bodyPr wrap="square" rtlCol="0" anchor="ctr"/>
          <a:lstStyle/>
          <a:p>
            <a:pPr marL="0" indent="0">
              <a:buNone/>
            </a:pPr>
            <a:r>
              <a:rPr lang="en-US" sz="2000" dirty="0">
                <a:solidFill>
                  <a:srgbClr val="4CC9F0"/>
                </a:solidFill>
                <a:latin typeface="Calibri" pitchFamily="34" charset="0"/>
                <a:ea typeface="Calibri" pitchFamily="34" charset="-122"/>
                <a:cs typeface="Calibri" pitchFamily="34" charset="-120"/>
              </a:rPr>
              <a:t>Aprendizaje adaptativo de cálculo mental, construido por un sistema multiagente de IA</a:t>
            </a:r>
            <a:endParaRPr lang="en-US" sz="2000" dirty="0"/>
          </a:p>
        </p:txBody>
      </p:sp>
      <p:sp>
        <p:nvSpPr>
          <p:cNvPr id="5" name="Text 3"/>
          <p:cNvSpPr/>
          <p:nvPr/>
        </p:nvSpPr>
        <p:spPr>
          <a:xfrm>
            <a:off x="822960" y="4709160"/>
            <a:ext cx="10515600" cy="411480"/>
          </a:xfrm>
          <a:prstGeom prst="rect">
            <a:avLst/>
          </a:prstGeom>
          <a:noFill/>
          <a:ln/>
        </p:spPr>
        <p:txBody>
          <a:bodyPr wrap="square" rtlCol="0" anchor="ctr"/>
          <a:lstStyle/>
          <a:p>
            <a:pPr marL="0" indent="0">
              <a:buNone/>
            </a:pPr>
            <a:r>
              <a:rPr lang="en-US" sz="1500" dirty="0">
                <a:solidFill>
                  <a:srgbClr val="9AA4C0"/>
                </a:solidFill>
                <a:latin typeface="Calibri" pitchFamily="34" charset="0"/>
                <a:ea typeface="Calibri" pitchFamily="34" charset="-122"/>
                <a:cs typeface="Calibri" pitchFamily="34" charset="-120"/>
              </a:rPr>
              <a:t>TFM · Máster en Desarrollo  con IA</a:t>
            </a:r>
            <a:endParaRPr lang="en-US" sz="1500" dirty="0"/>
          </a:p>
        </p:txBody>
      </p:sp>
      <p:sp>
        <p:nvSpPr>
          <p:cNvPr id="6" name="Text 4"/>
          <p:cNvSpPr/>
          <p:nvPr/>
        </p:nvSpPr>
        <p:spPr>
          <a:xfrm>
            <a:off x="822960" y="5074920"/>
            <a:ext cx="1051560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Rubén Abad González (ruben.abad@zkteco.eu)</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CC9F0"/>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4CC9F0"/>
                </a:solidFill>
                <a:latin typeface="Calibri" pitchFamily="34" charset="0"/>
                <a:ea typeface="Calibri" pitchFamily="34" charset="-122"/>
                <a:cs typeface="Calibri" pitchFamily="34" charset="-120"/>
              </a:rPr>
              <a:t>INTRO</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Objetivo del TFM</a:t>
            </a:r>
            <a:endParaRPr lang="en-US" sz="2800" dirty="0"/>
          </a:p>
        </p:txBody>
      </p:sp>
      <p:sp>
        <p:nvSpPr>
          <p:cNvPr id="5" name="Shape 3"/>
          <p:cNvSpPr/>
          <p:nvPr/>
        </p:nvSpPr>
        <p:spPr>
          <a:xfrm>
            <a:off x="502920" y="1417320"/>
            <a:ext cx="11155680" cy="0"/>
          </a:xfrm>
          <a:prstGeom prst="line">
            <a:avLst/>
          </a:prstGeom>
          <a:noFill/>
          <a:ln w="25400">
            <a:solidFill>
              <a:srgbClr val="4CC9F0"/>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Objetivo doble:</a:t>
            </a:r>
            <a:endParaRPr lang="en-US" sz="1800" dirty="0"/>
          </a:p>
          <a:p>
            <a:pPr marL="685800" lvl="1" indent="-342900">
              <a:spcAft>
                <a:spcPts val="1200"/>
              </a:spcAft>
              <a:buSzPct val="100000"/>
              <a:buChar char="–"/>
            </a:pPr>
            <a:r>
              <a:rPr lang="en-US" sz="1600" dirty="0">
                <a:solidFill>
                  <a:srgbClr val="3A4059"/>
                </a:solidFill>
                <a:latin typeface="Calibri" pitchFamily="34" charset="0"/>
                <a:ea typeface="Calibri" pitchFamily="34" charset="-122"/>
                <a:cs typeface="Calibri" pitchFamily="34" charset="-120"/>
              </a:rPr>
              <a:t>1. Construir un producto real y completo — no un prototipo</a:t>
            </a:r>
            <a:endParaRPr lang="en-US" sz="1800" dirty="0"/>
          </a:p>
          <a:p>
            <a:pPr marL="685800" lvl="1" indent="-342900">
              <a:spcAft>
                <a:spcPts val="1200"/>
              </a:spcAft>
              <a:buSzPct val="100000"/>
              <a:buChar char="–"/>
            </a:pPr>
            <a:r>
              <a:rPr lang="en-US" sz="1600" dirty="0">
                <a:solidFill>
                  <a:srgbClr val="3A4059"/>
                </a:solidFill>
                <a:latin typeface="Calibri" pitchFamily="34" charset="0"/>
                <a:ea typeface="Calibri" pitchFamily="34" charset="-122"/>
                <a:cs typeface="Calibri" pitchFamily="34" charset="-120"/>
              </a:rPr>
              <a:t>2. Gobernar y medir un desarrollo con agentes de IA especializados por rol</a:t>
            </a:r>
            <a:endParaRPr lang="en-US" sz="1800" dirty="0"/>
          </a:p>
          <a:p>
            <a:pPr marL="0" indent="0">
              <a:spcAft>
                <a:spcPts val="1000"/>
              </a:spcAft>
              <a:buNone/>
            </a:pPr>
            <a:r>
              <a:rPr lang="en-US" sz="1800" i="1" dirty="0">
                <a:solidFill>
                  <a:srgbClr val="4CC9F0"/>
                </a:solidFill>
                <a:latin typeface="Calibri" pitchFamily="34" charset="0"/>
                <a:ea typeface="Calibri" pitchFamily="34" charset="-122"/>
                <a:cs typeface="Calibri" pitchFamily="34" charset="-120"/>
              </a:rPr>
              <a:t>“No solo describir la gobernanza — medir su cumplimiento real”</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4CC9F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CC9F0"/>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4CC9F0"/>
                </a:solidFill>
                <a:latin typeface="Calibri" pitchFamily="34" charset="0"/>
                <a:ea typeface="Calibri" pitchFamily="34" charset="-122"/>
                <a:cs typeface="Calibri" pitchFamily="34" charset="-120"/>
              </a:rPr>
              <a:t>PRODUCTO</a:t>
            </a:r>
            <a:endParaRPr lang="en-US" sz="1200" dirty="0"/>
          </a:p>
        </p:txBody>
      </p:sp>
      <p:sp>
        <p:nvSpPr>
          <p:cNvPr id="4" name="Text 2"/>
          <p:cNvSpPr/>
          <p:nvPr/>
        </p:nvSpPr>
        <p:spPr>
          <a:xfrm>
            <a:off x="502920" y="621792"/>
            <a:ext cx="598932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El producto en una frase</a:t>
            </a:r>
            <a:endParaRPr lang="en-US" sz="2800" dirty="0"/>
          </a:p>
        </p:txBody>
      </p:sp>
      <p:sp>
        <p:nvSpPr>
          <p:cNvPr id="5" name="Shape 3"/>
          <p:cNvSpPr/>
          <p:nvPr/>
        </p:nvSpPr>
        <p:spPr>
          <a:xfrm>
            <a:off x="502920" y="1417320"/>
            <a:ext cx="11155680" cy="0"/>
          </a:xfrm>
          <a:prstGeom prst="line">
            <a:avLst/>
          </a:prstGeom>
          <a:noFill/>
          <a:ln w="25400">
            <a:solidFill>
              <a:srgbClr val="4CC9F0"/>
            </a:solidFill>
            <a:prstDash val="solid"/>
          </a:ln>
        </p:spPr>
        <p:txBody>
          <a:bodyPr/>
          <a:lstStyle/>
          <a:p>
            <a:endParaRPr lang="es-ES"/>
          </a:p>
        </p:txBody>
      </p:sp>
      <p:sp>
        <p:nvSpPr>
          <p:cNvPr id="6" name="Shape 4"/>
          <p:cNvSpPr/>
          <p:nvPr/>
        </p:nvSpPr>
        <p:spPr>
          <a:xfrm>
            <a:off x="6848856" y="2093976"/>
            <a:ext cx="4864608" cy="3456432"/>
          </a:xfrm>
          <a:prstGeom prst="roundRect">
            <a:avLst>
              <a:gd name="adj" fmla="val 1587"/>
            </a:avLst>
          </a:prstGeom>
          <a:solidFill>
            <a:srgbClr val="15192B"/>
          </a:solidFill>
          <a:ln w="19050">
            <a:solidFill>
              <a:srgbClr val="4CC9F0"/>
            </a:solidFill>
            <a:prstDash val="solid"/>
          </a:ln>
          <a:effectLst>
            <a:outerShdw blurRad="101600" dist="38100" dir="5400000" algn="bl" rotWithShape="0">
              <a:srgbClr val="000000">
                <a:alpha val="25000"/>
              </a:srgbClr>
            </a:outerShdw>
          </a:effectLst>
        </p:spPr>
        <p:txBody>
          <a:bodyPr/>
          <a:lstStyle/>
          <a:p>
            <a:endParaRPr lang="es-ES"/>
          </a:p>
        </p:txBody>
      </p:sp>
      <p:pic>
        <p:nvPicPr>
          <p:cNvPr id="7" name="Image 0" descr="C:\Users\ruben.abad\AppData\Local\Temp\claude\c--Users-ruben-abad-Documents-CUrsoIA-PFM-mathMindIA-mathMindIA\76132eb8-9725-46ba-b08d-38440d8187a1\scratchpad\screenshots\01-login.png"/>
          <p:cNvPicPr>
            <a:picLocks noChangeAspect="1"/>
          </p:cNvPicPr>
          <p:nvPr/>
        </p:nvPicPr>
        <p:blipFill>
          <a:blip r:embed="rId3"/>
          <a:stretch>
            <a:fillRect/>
          </a:stretch>
        </p:blipFill>
        <p:spPr>
          <a:xfrm>
            <a:off x="6903720" y="2148840"/>
            <a:ext cx="4754880" cy="3346704"/>
          </a:xfrm>
          <a:prstGeom prst="rect">
            <a:avLst/>
          </a:prstGeom>
        </p:spPr>
      </p:pic>
      <p:sp>
        <p:nvSpPr>
          <p:cNvPr id="8" name="Text 5"/>
          <p:cNvSpPr/>
          <p:nvPr/>
        </p:nvSpPr>
        <p:spPr>
          <a:xfrm>
            <a:off x="6903720" y="5568696"/>
            <a:ext cx="4754880" cy="320040"/>
          </a:xfrm>
          <a:prstGeom prst="rect">
            <a:avLst/>
          </a:prstGeom>
          <a:noFill/>
          <a:ln/>
        </p:spPr>
        <p:txBody>
          <a:bodyPr wrap="square" rtlCol="0" anchor="ctr"/>
          <a:lstStyle/>
          <a:p>
            <a:pPr marL="0" indent="0" algn="ctr">
              <a:buNone/>
            </a:pPr>
            <a:r>
              <a:rPr lang="en-US" sz="1100" i="1" dirty="0">
                <a:solidFill>
                  <a:srgbClr val="3A4059"/>
                </a:solidFill>
                <a:latin typeface="Calibri" pitchFamily="34" charset="0"/>
                <a:ea typeface="Calibri" pitchFamily="34" charset="-122"/>
                <a:cs typeface="Calibri" pitchFamily="34" charset="-120"/>
              </a:rPr>
              <a:t>Login real — apps/mobile-app, build web</a:t>
            </a:r>
            <a:endParaRPr lang="en-US" sz="1100" dirty="0"/>
          </a:p>
        </p:txBody>
      </p:sp>
      <p:sp>
        <p:nvSpPr>
          <p:cNvPr id="9" name="Text 6"/>
          <p:cNvSpPr/>
          <p:nvPr/>
        </p:nvSpPr>
        <p:spPr>
          <a:xfrm>
            <a:off x="502920" y="1783080"/>
            <a:ext cx="598932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MathMind AI: plataforma de entrenamiento de cálculo mental adaptativo</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4 niveles: Primaria · Secundaria · Bachillerato · Ingeniería</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Modo Test (opción múltiple, sin pistas) · Modo Resolución (respuesta libre, pistas progresivas)</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La dificultad se adapta al usuario en tiempo real, no es fija</a:t>
            </a:r>
            <a:endParaRPr lang="en-US" sz="1800" dirty="0"/>
          </a:p>
        </p:txBody>
      </p:sp>
      <p:sp>
        <p:nvSpPr>
          <p:cNvPr id="11" name="Text 7"/>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12" name="Text 8"/>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4CC9F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CC9F0"/>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4CC9F0"/>
                </a:solidFill>
                <a:latin typeface="Calibri" pitchFamily="34" charset="0"/>
                <a:ea typeface="Calibri" pitchFamily="34" charset="-122"/>
                <a:cs typeface="Calibri" pitchFamily="34" charset="-120"/>
              </a:rPr>
              <a:t>PRODUCTO</a:t>
            </a:r>
            <a:endParaRPr lang="en-US" sz="1200" dirty="0"/>
          </a:p>
        </p:txBody>
      </p:sp>
      <p:sp>
        <p:nvSpPr>
          <p:cNvPr id="4" name="Text 2"/>
          <p:cNvSpPr/>
          <p:nvPr/>
        </p:nvSpPr>
        <p:spPr>
          <a:xfrm>
            <a:off x="502920" y="621792"/>
            <a:ext cx="598932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Experiencia de usuario</a:t>
            </a:r>
            <a:endParaRPr lang="en-US" sz="2800" dirty="0"/>
          </a:p>
        </p:txBody>
      </p:sp>
      <p:sp>
        <p:nvSpPr>
          <p:cNvPr id="5" name="Shape 3"/>
          <p:cNvSpPr/>
          <p:nvPr/>
        </p:nvSpPr>
        <p:spPr>
          <a:xfrm>
            <a:off x="502920" y="1417320"/>
            <a:ext cx="11155680" cy="0"/>
          </a:xfrm>
          <a:prstGeom prst="line">
            <a:avLst/>
          </a:prstGeom>
          <a:noFill/>
          <a:ln w="25400">
            <a:solidFill>
              <a:srgbClr val="4CC9F0"/>
            </a:solidFill>
            <a:prstDash val="solid"/>
          </a:ln>
        </p:spPr>
        <p:txBody>
          <a:bodyPr/>
          <a:lstStyle/>
          <a:p>
            <a:endParaRPr lang="es-ES"/>
          </a:p>
        </p:txBody>
      </p:sp>
      <p:sp>
        <p:nvSpPr>
          <p:cNvPr id="6" name="Shape 4"/>
          <p:cNvSpPr/>
          <p:nvPr/>
        </p:nvSpPr>
        <p:spPr>
          <a:xfrm>
            <a:off x="6848856" y="2093976"/>
            <a:ext cx="4864608" cy="3456432"/>
          </a:xfrm>
          <a:prstGeom prst="roundRect">
            <a:avLst>
              <a:gd name="adj" fmla="val 1587"/>
            </a:avLst>
          </a:prstGeom>
          <a:solidFill>
            <a:srgbClr val="15192B"/>
          </a:solidFill>
          <a:ln w="19050">
            <a:solidFill>
              <a:srgbClr val="4CC9F0"/>
            </a:solidFill>
            <a:prstDash val="solid"/>
          </a:ln>
          <a:effectLst>
            <a:outerShdw blurRad="101600" dist="38100" dir="5400000" algn="bl" rotWithShape="0">
              <a:srgbClr val="000000">
                <a:alpha val="25000"/>
              </a:srgbClr>
            </a:outerShdw>
          </a:effectLst>
        </p:spPr>
        <p:txBody>
          <a:bodyPr/>
          <a:lstStyle/>
          <a:p>
            <a:endParaRPr lang="es-ES"/>
          </a:p>
        </p:txBody>
      </p:sp>
      <p:pic>
        <p:nvPicPr>
          <p:cNvPr id="7" name="Image 0" descr="C:\Users\ruben.abad\AppData\Local\Temp\claude\c--Users-ruben-abad-Documents-CUrsoIA-PFM-mathMindIA-mathMindIA\76132eb8-9725-46ba-b08d-38440d8187a1\scratchpad\screenshots\04-session-test.png"/>
          <p:cNvPicPr>
            <a:picLocks noChangeAspect="1"/>
          </p:cNvPicPr>
          <p:nvPr/>
        </p:nvPicPr>
        <p:blipFill>
          <a:blip r:embed="rId3"/>
          <a:stretch>
            <a:fillRect/>
          </a:stretch>
        </p:blipFill>
        <p:spPr>
          <a:xfrm>
            <a:off x="6903720" y="2148840"/>
            <a:ext cx="4754880" cy="3346704"/>
          </a:xfrm>
          <a:prstGeom prst="rect">
            <a:avLst/>
          </a:prstGeom>
        </p:spPr>
      </p:pic>
      <p:sp>
        <p:nvSpPr>
          <p:cNvPr id="8" name="Text 5"/>
          <p:cNvSpPr/>
          <p:nvPr/>
        </p:nvSpPr>
        <p:spPr>
          <a:xfrm>
            <a:off x="6903720" y="5568696"/>
            <a:ext cx="4754880" cy="320040"/>
          </a:xfrm>
          <a:prstGeom prst="rect">
            <a:avLst/>
          </a:prstGeom>
          <a:noFill/>
          <a:ln/>
        </p:spPr>
        <p:txBody>
          <a:bodyPr wrap="square" rtlCol="0" anchor="ctr"/>
          <a:lstStyle/>
          <a:p>
            <a:pPr marL="0" indent="0" algn="ctr">
              <a:buNone/>
            </a:pPr>
            <a:r>
              <a:rPr lang="en-US" sz="1100" i="1" dirty="0">
                <a:solidFill>
                  <a:srgbClr val="3A4059"/>
                </a:solidFill>
                <a:latin typeface="Calibri" pitchFamily="34" charset="0"/>
                <a:ea typeface="Calibri" pitchFamily="34" charset="-122"/>
                <a:cs typeface="Calibri" pitchFamily="34" charset="-120"/>
              </a:rPr>
              <a:t>Sesión real (Modo Test) — ejercicio generado por IA</a:t>
            </a:r>
            <a:endParaRPr lang="en-US" sz="1100" dirty="0"/>
          </a:p>
        </p:txBody>
      </p:sp>
      <p:sp>
        <p:nvSpPr>
          <p:cNvPr id="9" name="Text 6"/>
          <p:cNvSpPr/>
          <p:nvPr/>
        </p:nvSpPr>
        <p:spPr>
          <a:xfrm>
            <a:off x="502920" y="1783080"/>
            <a:ext cx="598932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Registro / Login → Home (Tema + Nivel) → Sesión (resolver, pistas, finalizar) → Resumen → Estadísticas</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10 User Stories (US-001 a US-010) — todas implementadas, MVP funcional completo</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23 Temas del catálogo matemático (ADR-006), Área → Tema</a:t>
            </a:r>
            <a:endParaRPr lang="en-US" sz="1800" dirty="0"/>
          </a:p>
        </p:txBody>
      </p:sp>
      <p:sp>
        <p:nvSpPr>
          <p:cNvPr id="11" name="Text 7"/>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12" name="Text 8"/>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4CC9F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CC9F0"/>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4CC9F0"/>
                </a:solidFill>
                <a:latin typeface="Calibri" pitchFamily="34" charset="0"/>
                <a:ea typeface="Calibri" pitchFamily="34" charset="-122"/>
                <a:cs typeface="Calibri" pitchFamily="34" charset="-120"/>
              </a:rPr>
              <a:t>PRODUCTO</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Tour por la app real</a:t>
            </a:r>
            <a:endParaRPr lang="en-US" sz="2800" dirty="0"/>
          </a:p>
        </p:txBody>
      </p:sp>
      <p:sp>
        <p:nvSpPr>
          <p:cNvPr id="5" name="Shape 3"/>
          <p:cNvSpPr/>
          <p:nvPr/>
        </p:nvSpPr>
        <p:spPr>
          <a:xfrm>
            <a:off x="502920" y="1417320"/>
            <a:ext cx="11155680" cy="0"/>
          </a:xfrm>
          <a:prstGeom prst="line">
            <a:avLst/>
          </a:prstGeom>
          <a:noFill/>
          <a:ln w="25400">
            <a:solidFill>
              <a:srgbClr val="4CC9F0"/>
            </a:solidFill>
            <a:prstDash val="solid"/>
          </a:ln>
        </p:spPr>
        <p:txBody>
          <a:bodyPr/>
          <a:lstStyle/>
          <a:p>
            <a:endParaRPr lang="es-ES"/>
          </a:p>
        </p:txBody>
      </p:sp>
      <p:sp>
        <p:nvSpPr>
          <p:cNvPr id="6" name="Shape 4"/>
          <p:cNvSpPr/>
          <p:nvPr/>
        </p:nvSpPr>
        <p:spPr>
          <a:xfrm>
            <a:off x="440284" y="2093976"/>
            <a:ext cx="3630168" cy="2587752"/>
          </a:xfrm>
          <a:prstGeom prst="roundRect">
            <a:avLst>
              <a:gd name="adj" fmla="val 2120"/>
            </a:avLst>
          </a:prstGeom>
          <a:solidFill>
            <a:srgbClr val="15192B"/>
          </a:solidFill>
          <a:ln w="19050">
            <a:solidFill>
              <a:srgbClr val="4CC9F0"/>
            </a:solidFill>
            <a:prstDash val="solid"/>
          </a:ln>
          <a:effectLst>
            <a:outerShdw blurRad="101600" dist="38100" dir="5400000" algn="bl" rotWithShape="0">
              <a:srgbClr val="000000">
                <a:alpha val="25000"/>
              </a:srgbClr>
            </a:outerShdw>
          </a:effectLst>
        </p:spPr>
        <p:txBody>
          <a:bodyPr/>
          <a:lstStyle/>
          <a:p>
            <a:endParaRPr lang="es-ES"/>
          </a:p>
        </p:txBody>
      </p:sp>
      <p:pic>
        <p:nvPicPr>
          <p:cNvPr id="7" name="Image 0" descr="C:\Users\ruben.abad\AppData\Local\Temp\claude\c--Users-ruben-abad-Documents-CUrsoIA-PFM-mathMindIA-mathMindIA\76132eb8-9725-46ba-b08d-38440d8187a1\scratchpad\screenshots\03b-home-relleno.png"/>
          <p:cNvPicPr>
            <a:picLocks noChangeAspect="1"/>
          </p:cNvPicPr>
          <p:nvPr/>
        </p:nvPicPr>
        <p:blipFill>
          <a:blip r:embed="rId3"/>
          <a:stretch>
            <a:fillRect/>
          </a:stretch>
        </p:blipFill>
        <p:spPr>
          <a:xfrm>
            <a:off x="495148" y="2148840"/>
            <a:ext cx="3520440" cy="2478024"/>
          </a:xfrm>
          <a:prstGeom prst="rect">
            <a:avLst/>
          </a:prstGeom>
        </p:spPr>
      </p:pic>
      <p:sp>
        <p:nvSpPr>
          <p:cNvPr id="8" name="Text 5"/>
          <p:cNvSpPr/>
          <p:nvPr/>
        </p:nvSpPr>
        <p:spPr>
          <a:xfrm>
            <a:off x="495148" y="4700016"/>
            <a:ext cx="3520440" cy="320040"/>
          </a:xfrm>
          <a:prstGeom prst="rect">
            <a:avLst/>
          </a:prstGeom>
          <a:noFill/>
          <a:ln/>
        </p:spPr>
        <p:txBody>
          <a:bodyPr wrap="square" rtlCol="0" anchor="ctr"/>
          <a:lstStyle/>
          <a:p>
            <a:pPr marL="0" indent="0" algn="ctr">
              <a:buNone/>
            </a:pPr>
            <a:r>
              <a:rPr lang="en-US" sz="1100" i="1" dirty="0">
                <a:solidFill>
                  <a:srgbClr val="3A4059"/>
                </a:solidFill>
                <a:latin typeface="Calibri" pitchFamily="34" charset="0"/>
                <a:ea typeface="Calibri" pitchFamily="34" charset="-122"/>
                <a:cs typeface="Calibri" pitchFamily="34" charset="-120"/>
              </a:rPr>
              <a:t>Home — elegir modo, nivel y tema</a:t>
            </a:r>
            <a:endParaRPr lang="en-US" sz="1100" dirty="0"/>
          </a:p>
        </p:txBody>
      </p:sp>
      <p:sp>
        <p:nvSpPr>
          <p:cNvPr id="9" name="Shape 6"/>
          <p:cNvSpPr/>
          <p:nvPr/>
        </p:nvSpPr>
        <p:spPr>
          <a:xfrm>
            <a:off x="4280764" y="2093976"/>
            <a:ext cx="3630168" cy="2587752"/>
          </a:xfrm>
          <a:prstGeom prst="roundRect">
            <a:avLst>
              <a:gd name="adj" fmla="val 2120"/>
            </a:avLst>
          </a:prstGeom>
          <a:solidFill>
            <a:srgbClr val="15192B"/>
          </a:solidFill>
          <a:ln w="19050">
            <a:solidFill>
              <a:srgbClr val="4CC9F0"/>
            </a:solidFill>
            <a:prstDash val="solid"/>
          </a:ln>
          <a:effectLst>
            <a:outerShdw blurRad="101600" dist="38100" dir="5400000" algn="bl" rotWithShape="0">
              <a:srgbClr val="000000">
                <a:alpha val="25000"/>
              </a:srgbClr>
            </a:outerShdw>
          </a:effectLst>
        </p:spPr>
        <p:txBody>
          <a:bodyPr/>
          <a:lstStyle/>
          <a:p>
            <a:endParaRPr lang="es-ES"/>
          </a:p>
        </p:txBody>
      </p:sp>
      <p:pic>
        <p:nvPicPr>
          <p:cNvPr id="10" name="Image 1" descr="C:\Users\ruben.abad\AppData\Local\Temp\claude\c--Users-ruben-abad-Documents-CUrsoIA-PFM-mathMindIA-mathMindIA\76132eb8-9725-46ba-b08d-38440d8187a1\scratchpad\screenshots\06-resumen.png"/>
          <p:cNvPicPr>
            <a:picLocks noChangeAspect="1"/>
          </p:cNvPicPr>
          <p:nvPr/>
        </p:nvPicPr>
        <p:blipFill>
          <a:blip r:embed="rId4"/>
          <a:stretch>
            <a:fillRect/>
          </a:stretch>
        </p:blipFill>
        <p:spPr>
          <a:xfrm>
            <a:off x="4335628" y="2148840"/>
            <a:ext cx="3520440" cy="2478024"/>
          </a:xfrm>
          <a:prstGeom prst="rect">
            <a:avLst/>
          </a:prstGeom>
        </p:spPr>
      </p:pic>
      <p:sp>
        <p:nvSpPr>
          <p:cNvPr id="11" name="Text 7"/>
          <p:cNvSpPr/>
          <p:nvPr/>
        </p:nvSpPr>
        <p:spPr>
          <a:xfrm>
            <a:off x="4335628" y="4700016"/>
            <a:ext cx="3520440" cy="320040"/>
          </a:xfrm>
          <a:prstGeom prst="rect">
            <a:avLst/>
          </a:prstGeom>
          <a:noFill/>
          <a:ln/>
        </p:spPr>
        <p:txBody>
          <a:bodyPr wrap="square" rtlCol="0" anchor="ctr"/>
          <a:lstStyle/>
          <a:p>
            <a:pPr marL="0" indent="0" algn="ctr">
              <a:buNone/>
            </a:pPr>
            <a:r>
              <a:rPr lang="en-US" sz="1100" i="1" dirty="0">
                <a:solidFill>
                  <a:srgbClr val="3A4059"/>
                </a:solidFill>
                <a:latin typeface="Calibri" pitchFamily="34" charset="0"/>
                <a:ea typeface="Calibri" pitchFamily="34" charset="-122"/>
                <a:cs typeface="Calibri" pitchFamily="34" charset="-120"/>
              </a:rPr>
              <a:t>Resumen de sesión</a:t>
            </a:r>
            <a:endParaRPr lang="en-US" sz="1100" dirty="0"/>
          </a:p>
        </p:txBody>
      </p:sp>
      <p:sp>
        <p:nvSpPr>
          <p:cNvPr id="12" name="Shape 8"/>
          <p:cNvSpPr/>
          <p:nvPr/>
        </p:nvSpPr>
        <p:spPr>
          <a:xfrm>
            <a:off x="8121244" y="2093976"/>
            <a:ext cx="3630168" cy="2587752"/>
          </a:xfrm>
          <a:prstGeom prst="roundRect">
            <a:avLst>
              <a:gd name="adj" fmla="val 2120"/>
            </a:avLst>
          </a:prstGeom>
          <a:solidFill>
            <a:srgbClr val="15192B"/>
          </a:solidFill>
          <a:ln w="19050">
            <a:solidFill>
              <a:srgbClr val="4CC9F0"/>
            </a:solidFill>
            <a:prstDash val="solid"/>
          </a:ln>
          <a:effectLst>
            <a:outerShdw blurRad="101600" dist="38100" dir="5400000" algn="bl" rotWithShape="0">
              <a:srgbClr val="000000">
                <a:alpha val="25000"/>
              </a:srgbClr>
            </a:outerShdw>
          </a:effectLst>
        </p:spPr>
        <p:txBody>
          <a:bodyPr/>
          <a:lstStyle/>
          <a:p>
            <a:endParaRPr lang="es-ES"/>
          </a:p>
        </p:txBody>
      </p:sp>
      <p:pic>
        <p:nvPicPr>
          <p:cNvPr id="13" name="Image 2" descr="C:\Users\ruben.abad\AppData\Local\Temp\claude\c--Users-ruben-abad-Documents-CUrsoIA-PFM-mathMindIA-mathMindIA\76132eb8-9725-46ba-b08d-38440d8187a1\scratchpad\screenshots\05b-statistics-con-datos.png"/>
          <p:cNvPicPr>
            <a:picLocks noChangeAspect="1"/>
          </p:cNvPicPr>
          <p:nvPr/>
        </p:nvPicPr>
        <p:blipFill>
          <a:blip r:embed="rId5"/>
          <a:stretch>
            <a:fillRect/>
          </a:stretch>
        </p:blipFill>
        <p:spPr>
          <a:xfrm>
            <a:off x="8176108" y="2148840"/>
            <a:ext cx="3520440" cy="2478024"/>
          </a:xfrm>
          <a:prstGeom prst="rect">
            <a:avLst/>
          </a:prstGeom>
        </p:spPr>
      </p:pic>
      <p:sp>
        <p:nvSpPr>
          <p:cNvPr id="14" name="Text 9"/>
          <p:cNvSpPr/>
          <p:nvPr/>
        </p:nvSpPr>
        <p:spPr>
          <a:xfrm>
            <a:off x="8176108" y="4700016"/>
            <a:ext cx="3520440" cy="320040"/>
          </a:xfrm>
          <a:prstGeom prst="rect">
            <a:avLst/>
          </a:prstGeom>
          <a:noFill/>
          <a:ln/>
        </p:spPr>
        <p:txBody>
          <a:bodyPr wrap="square" rtlCol="0" anchor="ctr"/>
          <a:lstStyle/>
          <a:p>
            <a:pPr marL="0" indent="0" algn="ctr">
              <a:buNone/>
            </a:pPr>
            <a:r>
              <a:rPr lang="en-US" sz="1100" i="1" dirty="0">
                <a:solidFill>
                  <a:srgbClr val="3A4059"/>
                </a:solidFill>
                <a:latin typeface="Calibri" pitchFamily="34" charset="0"/>
                <a:ea typeface="Calibri" pitchFamily="34" charset="-122"/>
                <a:cs typeface="Calibri" pitchFamily="34" charset="-120"/>
              </a:rPr>
              <a:t>Estadísticas por tema</a:t>
            </a:r>
            <a:endParaRPr lang="en-US" sz="1100" dirty="0"/>
          </a:p>
        </p:txBody>
      </p:sp>
      <p:sp>
        <p:nvSpPr>
          <p:cNvPr id="16" name="Text 10"/>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17" name="Text 11"/>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4CC9F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CC9F0"/>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4CC9F0"/>
                </a:solidFill>
                <a:latin typeface="Calibri" pitchFamily="34" charset="0"/>
                <a:ea typeface="Calibri" pitchFamily="34" charset="-122"/>
                <a:cs typeface="Calibri" pitchFamily="34" charset="-120"/>
              </a:rPr>
              <a:t>PRODUCTO</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Motor de dificultad adaptativa</a:t>
            </a:r>
            <a:endParaRPr lang="en-US" sz="2800" dirty="0"/>
          </a:p>
        </p:txBody>
      </p:sp>
      <p:sp>
        <p:nvSpPr>
          <p:cNvPr id="5" name="Shape 3"/>
          <p:cNvSpPr/>
          <p:nvPr/>
        </p:nvSpPr>
        <p:spPr>
          <a:xfrm>
            <a:off x="502920" y="1417320"/>
            <a:ext cx="11155680" cy="0"/>
          </a:xfrm>
          <a:prstGeom prst="line">
            <a:avLst/>
          </a:prstGeom>
          <a:noFill/>
          <a:ln w="25400">
            <a:solidFill>
              <a:srgbClr val="4CC9F0"/>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ADR-005: rating continuo tipo Elo, no niveles fijos "fácil / media / difícil"</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Un rating por nivel académico explorado (Map&lt;AcademicLevel, Difficulty&gt;)</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El siguiente ejercicio se elige dentro de una banda alrededor del rating actual (UC-008)</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Semilla inicial: Primaria 800 · Secundaria 1200 · Bachillerato 1600 · Ingeniería 2000</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4CC9F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CC9F0"/>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4CC9F0"/>
                </a:solidFill>
                <a:latin typeface="Calibri" pitchFamily="34" charset="0"/>
                <a:ea typeface="Calibri" pitchFamily="34" charset="-122"/>
                <a:cs typeface="Calibri" pitchFamily="34" charset="-120"/>
              </a:rPr>
              <a:t>PRODUCTO</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Generación de contenido con IA: estrategia</a:t>
            </a:r>
            <a:endParaRPr lang="en-US" sz="2800" dirty="0"/>
          </a:p>
        </p:txBody>
      </p:sp>
      <p:sp>
        <p:nvSpPr>
          <p:cNvPr id="5" name="Shape 3"/>
          <p:cNvSpPr/>
          <p:nvPr/>
        </p:nvSpPr>
        <p:spPr>
          <a:xfrm>
            <a:off x="502920" y="1417320"/>
            <a:ext cx="11155680" cy="0"/>
          </a:xfrm>
          <a:prstGeom prst="line">
            <a:avLst/>
          </a:prstGeom>
          <a:noFill/>
          <a:ln w="25400">
            <a:solidFill>
              <a:srgbClr val="4CC9F0"/>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La IA no interviene en cada petición del usuario final</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Ejercicios generados en lotes batch previos, almacenados en base de datos (UC-001)</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La IA se reserva para generación masiva de contenido + pistas bajo demanda (UC-003)</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Motivo: coste, latencia y escalabilidad — no solo conveniencia técnica</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4CC9F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CC9F0"/>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4CC9F0"/>
                </a:solidFill>
                <a:latin typeface="Calibri" pitchFamily="34" charset="0"/>
                <a:ea typeface="Calibri" pitchFamily="34" charset="-122"/>
                <a:cs typeface="Calibri" pitchFamily="34" charset="-120"/>
              </a:rPr>
              <a:t>PRODUCTO</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RAG: contenido de referencia</a:t>
            </a:r>
            <a:endParaRPr lang="en-US" sz="2800" dirty="0"/>
          </a:p>
        </p:txBody>
      </p:sp>
      <p:sp>
        <p:nvSpPr>
          <p:cNvPr id="5" name="Shape 3"/>
          <p:cNvSpPr/>
          <p:nvPr/>
        </p:nvSpPr>
        <p:spPr>
          <a:xfrm>
            <a:off x="502920" y="1417320"/>
            <a:ext cx="11155680" cy="0"/>
          </a:xfrm>
          <a:prstGeom prst="line">
            <a:avLst/>
          </a:prstGeom>
          <a:noFill/>
          <a:ln w="25400">
            <a:solidFill>
              <a:srgbClr val="4CC9F0"/>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ADR-014: un administrador deposita material de referencia (texto/Markdown) → se indexa</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pgvector (no Chroma) — mismo PostgreSQL, sin servicio nuevo que levantar</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Embeddings locales (Xenova/all-MiniLM-L6-v2, 384 dim) — sin coste ni dependencia de red</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Contexto opcional en los prompts de UC-001/UC-003, sin bloquear el camino feliz</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4CC9F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A855F7"/>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A855F7"/>
                </a:solidFill>
                <a:latin typeface="Calibri" pitchFamily="34" charset="0"/>
                <a:ea typeface="Calibri" pitchFamily="34" charset="-122"/>
                <a:cs typeface="Calibri" pitchFamily="34" charset="-120"/>
              </a:rPr>
              <a:t>ARQUITECTURA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Arquitectura técnica</a:t>
            </a:r>
            <a:endParaRPr lang="en-US" sz="2800" dirty="0"/>
          </a:p>
        </p:txBody>
      </p:sp>
      <p:sp>
        <p:nvSpPr>
          <p:cNvPr id="5" name="Shape 3"/>
          <p:cNvSpPr/>
          <p:nvPr/>
        </p:nvSpPr>
        <p:spPr>
          <a:xfrm>
            <a:off x="502920" y="1417320"/>
            <a:ext cx="11155680" cy="0"/>
          </a:xfrm>
          <a:prstGeom prst="line">
            <a:avLst/>
          </a:prstGeom>
          <a:noFill/>
          <a:ln w="25400">
            <a:solidFill>
              <a:srgbClr val="A855F7"/>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Clean Architecture — dominio agnóstico de framework (sin Express, sin Prisma, sin React)</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Monorepo: apps/{backend-api, ai-engine, mobile-app} + packages/shared-{domain,types,utils,testing,config,constants}</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Stack: TypeScript de punta a punta · Express · Prisma + PostgreSQL (+pgvector) · React Native/Expo</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Una sola base de código mobile → Android, iOS y Web</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A855F7"/>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A855F7"/>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A855F7"/>
                </a:solidFill>
                <a:latin typeface="Calibri" pitchFamily="34" charset="0"/>
                <a:ea typeface="Calibri" pitchFamily="34" charset="-122"/>
                <a:cs typeface="Calibri" pitchFamily="34" charset="-120"/>
              </a:rPr>
              <a:t>ARQUITECTURA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Modelo de dominio</a:t>
            </a:r>
            <a:endParaRPr lang="en-US" sz="2800" dirty="0"/>
          </a:p>
        </p:txBody>
      </p:sp>
      <p:sp>
        <p:nvSpPr>
          <p:cNvPr id="5" name="Shape 3"/>
          <p:cNvSpPr/>
          <p:nvPr/>
        </p:nvSpPr>
        <p:spPr>
          <a:xfrm>
            <a:off x="502920" y="1417320"/>
            <a:ext cx="11155680" cy="0"/>
          </a:xfrm>
          <a:prstGeom prst="line">
            <a:avLst/>
          </a:prstGeom>
          <a:noFill/>
          <a:ln w="25400">
            <a:solidFill>
              <a:srgbClr val="A855F7"/>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Entidades: User · Exercise · Session · Answer · Hint</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Value Objects: Difficulty · Score · Timer · AcademicLevel · ExerciseType</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ExercisePool no es una entidad — es una vista derivada (findByDifficultyBand)</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Invariantes reales: todo Answer de una Session respeta el type del Exercise</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A855F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A855F7"/>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A855F7"/>
                </a:solidFill>
                <a:latin typeface="Calibri" pitchFamily="34" charset="0"/>
                <a:ea typeface="Calibri" pitchFamily="34" charset="-122"/>
                <a:cs typeface="Calibri" pitchFamily="34" charset="-120"/>
              </a:rPr>
              <a:t>ARQUITECTURA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Seguridad y despliegue</a:t>
            </a:r>
            <a:endParaRPr lang="en-US" sz="2800" dirty="0"/>
          </a:p>
        </p:txBody>
      </p:sp>
      <p:sp>
        <p:nvSpPr>
          <p:cNvPr id="5" name="Shape 3"/>
          <p:cNvSpPr/>
          <p:nvPr/>
        </p:nvSpPr>
        <p:spPr>
          <a:xfrm>
            <a:off x="502920" y="1417320"/>
            <a:ext cx="11155680" cy="0"/>
          </a:xfrm>
          <a:prstGeom prst="line">
            <a:avLst/>
          </a:prstGeom>
          <a:noFill/>
          <a:ln w="25400">
            <a:solidFill>
              <a:srgbClr val="A855F7"/>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ADR-012: bcrypt · secretos solo en variables de entorno · datos mínimos de menores · validación Zod de la salida del LLM</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CI/CD real: GitHub Actions — quality (typecheck/lint/test) → e2e (Playwright, backend+Postgres reales) → deploy</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Despliegue continuo a AWS (EC2 free tier, CloudFormation, autenticación OIDC sin claves de larga duración)</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A855F7"/>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72585"/>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F72585"/>
                </a:solidFill>
                <a:latin typeface="Calibri" pitchFamily="34" charset="0"/>
                <a:ea typeface="Calibri" pitchFamily="34" charset="-122"/>
                <a:cs typeface="Calibri" pitchFamily="34" charset="-120"/>
              </a:rPr>
              <a:t>GOBERNANZA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Gobernanza: sistema multiagente</a:t>
            </a:r>
            <a:endParaRPr lang="en-US" sz="2800" dirty="0"/>
          </a:p>
        </p:txBody>
      </p:sp>
      <p:sp>
        <p:nvSpPr>
          <p:cNvPr id="5" name="Shape 3"/>
          <p:cNvSpPr/>
          <p:nvPr/>
        </p:nvSpPr>
        <p:spPr>
          <a:xfrm>
            <a:off x="502920" y="1417320"/>
            <a:ext cx="11155680" cy="0"/>
          </a:xfrm>
          <a:prstGeom prst="line">
            <a:avLst/>
          </a:prstGeom>
          <a:noFill/>
          <a:ln w="25400">
            <a:solidFill>
              <a:srgbClr val="F72585"/>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Jerarquía estratégica: Usuario → Director → Orchestrator → Knowledge Manager → Agentes operativos</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Flujo operativo obligatorio: Product → Architecture → Test → Developer → Reviewer → Security → Documentation</a:t>
            </a:r>
            <a:endParaRPr lang="en-US" sz="1800" dirty="0"/>
          </a:p>
          <a:p>
            <a:pPr marL="0" indent="0">
              <a:spcAft>
                <a:spcPts val="1000"/>
              </a:spcAft>
              <a:buNone/>
            </a:pPr>
            <a:r>
              <a:rPr lang="en-US" sz="1800" i="1" dirty="0">
                <a:solidFill>
                  <a:srgbClr val="F72585"/>
                </a:solidFill>
                <a:latin typeface="Calibri" pitchFamily="34" charset="0"/>
                <a:ea typeface="Calibri" pitchFamily="34" charset="-122"/>
                <a:cs typeface="Calibri" pitchFamily="34" charset="-120"/>
              </a:rPr>
              <a:t>“Ninguna fase puede omitirse” — .ai/AGENTS.md</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Regla de oro: ningún agente toca código sin consultar antes ADRs / ARCHITECTURE.md / README.md</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725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72585"/>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F72585"/>
                </a:solidFill>
                <a:latin typeface="Calibri" pitchFamily="34" charset="0"/>
                <a:ea typeface="Calibri" pitchFamily="34" charset="-122"/>
                <a:cs typeface="Calibri" pitchFamily="34" charset="-120"/>
              </a:rPr>
              <a:t>GOBERNANZA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Reglas transversales del sistema</a:t>
            </a:r>
            <a:endParaRPr lang="en-US" sz="2800" dirty="0"/>
          </a:p>
        </p:txBody>
      </p:sp>
      <p:sp>
        <p:nvSpPr>
          <p:cNvPr id="5" name="Shape 3"/>
          <p:cNvSpPr/>
          <p:nvPr/>
        </p:nvSpPr>
        <p:spPr>
          <a:xfrm>
            <a:off x="502920" y="1417320"/>
            <a:ext cx="11155680" cy="0"/>
          </a:xfrm>
          <a:prstGeom prst="line">
            <a:avLst/>
          </a:prstGeom>
          <a:noFill/>
          <a:ln w="25400">
            <a:solidFill>
              <a:srgbClr val="F72585"/>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Jerarquía Documental — ante conflicto, manda siempre en este orden:</a:t>
            </a:r>
            <a:endParaRPr lang="en-US" sz="1800" dirty="0"/>
          </a:p>
          <a:p>
            <a:pPr marL="685800" lvl="1" indent="-342900">
              <a:spcAft>
                <a:spcPts val="1200"/>
              </a:spcAft>
              <a:buSzPct val="100000"/>
              <a:buChar char="–"/>
            </a:pPr>
            <a:r>
              <a:rPr lang="en-US" sz="1600" dirty="0">
                <a:solidFill>
                  <a:srgbClr val="3A4059"/>
                </a:solidFill>
                <a:latin typeface="Calibri" pitchFamily="34" charset="0"/>
                <a:ea typeface="Calibri" pitchFamily="34" charset="-122"/>
                <a:cs typeface="Calibri" pitchFamily="34" charset="-120"/>
              </a:rPr>
              <a:t>ADR &gt; ARCHITECTURE.md &gt; README.md &gt; Skills &gt; Prompt recibido</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Regla de Oro — ningún agente toca código sin consultar antes esos documentos</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TDD Enforcement Rule — User Story → Diseño → Tests → Implementación → Refactorización</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Reglas de Reutilización — prohibido duplicar entidades, DTOs o utilidades entre packages/shared-*</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725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72585"/>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F72585"/>
                </a:solidFill>
                <a:latin typeface="Calibri" pitchFamily="34" charset="0"/>
                <a:ea typeface="Calibri" pitchFamily="34" charset="-122"/>
                <a:cs typeface="Calibri" pitchFamily="34" charset="-120"/>
              </a:rPr>
              <a:t>GOBERNANZA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El incidente que cambió el proceso</a:t>
            </a:r>
            <a:endParaRPr lang="en-US" sz="2800" dirty="0"/>
          </a:p>
        </p:txBody>
      </p:sp>
      <p:sp>
        <p:nvSpPr>
          <p:cNvPr id="5" name="Shape 3"/>
          <p:cNvSpPr/>
          <p:nvPr/>
        </p:nvSpPr>
        <p:spPr>
          <a:xfrm>
            <a:off x="502920" y="1417320"/>
            <a:ext cx="11155680" cy="0"/>
          </a:xfrm>
          <a:prstGeom prst="line">
            <a:avLst/>
          </a:prstGeom>
          <a:noFill/>
          <a:ln w="25400">
            <a:solidFill>
              <a:srgbClr val="F72585"/>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0" indent="0">
              <a:spcAft>
                <a:spcPts val="1000"/>
              </a:spcAft>
              <a:buNone/>
            </a:pPr>
            <a:r>
              <a:rPr lang="en-US" sz="1800" i="1" dirty="0">
                <a:solidFill>
                  <a:srgbClr val="F72585"/>
                </a:solidFill>
                <a:latin typeface="Calibri" pitchFamily="34" charset="0"/>
                <a:ea typeface="Calibri" pitchFamily="34" charset="-122"/>
                <a:cs typeface="Calibri" pitchFamily="34" charset="-120"/>
              </a:rPr>
              <a:t>“Ninguna tarea pasó realmente por Director/Orchestrator/Knowledge Manager, y Reviewer/Security se saltaron en la implementación de autenticación real.” — Adenda a ADR-002, 2026-08-07</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Mecanismo introducido: Contrato de Handoff — 8 campos obligatorios antes de ejecutar cualquier tarea no trivial</a:t>
            </a:r>
            <a:endParaRPr lang="en-US" sz="1800" dirty="0"/>
          </a:p>
          <a:p>
            <a:pPr marL="685800" lvl="1" indent="-342900">
              <a:spcAft>
                <a:spcPts val="1200"/>
              </a:spcAft>
              <a:buSzPct val="100000"/>
              <a:buChar char="–"/>
            </a:pPr>
            <a:r>
              <a:rPr lang="en-US" sz="1600" dirty="0">
                <a:solidFill>
                  <a:srgbClr val="3A4059"/>
                </a:solidFill>
                <a:latin typeface="Calibri" pitchFamily="34" charset="0"/>
                <a:ea typeface="Calibri" pitchFamily="34" charset="-122"/>
                <a:cs typeface="Calibri" pitchFamily="34" charset="-120"/>
              </a:rPr>
              <a:t>requester · objective · scope · constraints · references · acceptance · risks · required_agents</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Omitir un agente exige justificación explícita, nunca un silencio que se descubre después</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7258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72585"/>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F72585"/>
                </a:solidFill>
                <a:latin typeface="Calibri" pitchFamily="34" charset="0"/>
                <a:ea typeface="Calibri" pitchFamily="34" charset="-122"/>
                <a:cs typeface="Calibri" pitchFamily="34" charset="-120"/>
              </a:rPr>
              <a:t>GOBERNANZA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De la prosa al dato medible</a:t>
            </a:r>
            <a:endParaRPr lang="en-US" sz="2800" dirty="0"/>
          </a:p>
        </p:txBody>
      </p:sp>
      <p:sp>
        <p:nvSpPr>
          <p:cNvPr id="5" name="Shape 3"/>
          <p:cNvSpPr/>
          <p:nvPr/>
        </p:nvSpPr>
        <p:spPr>
          <a:xfrm>
            <a:off x="502920" y="1417320"/>
            <a:ext cx="11155680" cy="0"/>
          </a:xfrm>
          <a:prstGeom prst="line">
            <a:avLst/>
          </a:prstGeom>
          <a:noFill/>
          <a:ln w="25400">
            <a:solidFill>
              <a:srgbClr val="F72585"/>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ADR-003 (origen): registro en prosa libre — "la disciplina de registro es manual, no forzada por tooling"</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ADR-017 (evolución, 2026-08-10): front-matter YAML sobre cada entrada (task_id, flujo, agentes, </a:t>
            </a:r>
            <a:r>
              <a:rPr lang="en-US" sz="1800" dirty="0" err="1">
                <a:solidFill>
                  <a:srgbClr val="15192B"/>
                </a:solidFill>
                <a:latin typeface="Calibri" pitchFamily="34" charset="0"/>
                <a:ea typeface="Calibri" pitchFamily="34" charset="-122"/>
                <a:cs typeface="Calibri" pitchFamily="34" charset="-120"/>
              </a:rPr>
              <a:t>estado</a:t>
            </a:r>
            <a:r>
              <a:rPr lang="en-US" sz="1800" dirty="0">
                <a:solidFill>
                  <a:srgbClr val="15192B"/>
                </a:solidFill>
                <a:latin typeface="Calibri" pitchFamily="34" charset="0"/>
                <a:ea typeface="Calibri" pitchFamily="34" charset="-122"/>
                <a:cs typeface="Calibri" pitchFamily="34" charset="-120"/>
              </a:rPr>
              <a:t>…)</a:t>
            </a:r>
          </a:p>
          <a:p>
            <a:r>
              <a:rPr lang="es-ES" b="1" dirty="0"/>
              <a:t>	</a:t>
            </a:r>
            <a:r>
              <a:rPr lang="es-ES" sz="1100" b="1" dirty="0"/>
              <a:t>---</a:t>
            </a:r>
            <a:endParaRPr lang="es-ES" sz="1100" dirty="0"/>
          </a:p>
          <a:p>
            <a:r>
              <a:rPr lang="es-ES" sz="1100" dirty="0"/>
              <a:t>	</a:t>
            </a:r>
            <a:r>
              <a:rPr lang="es-ES" sz="1100" dirty="0" err="1"/>
              <a:t>task_id</a:t>
            </a:r>
            <a:r>
              <a:rPr lang="es-ES" sz="1100" dirty="0"/>
              <a:t>: STATUS-064</a:t>
            </a:r>
          </a:p>
          <a:p>
            <a:r>
              <a:rPr lang="es-ES" sz="1100" dirty="0"/>
              <a:t>	date: 2026-08-21</a:t>
            </a:r>
          </a:p>
          <a:p>
            <a:r>
              <a:rPr lang="es-ES" sz="1100" dirty="0"/>
              <a:t>	</a:t>
            </a:r>
            <a:r>
              <a:rPr lang="es-ES" sz="1100" dirty="0" err="1"/>
              <a:t>handoff_ref</a:t>
            </a:r>
            <a:r>
              <a:rPr lang="es-ES" sz="1100" dirty="0"/>
              <a:t>: STATUS-064</a:t>
            </a:r>
          </a:p>
          <a:p>
            <a:r>
              <a:rPr lang="es-ES" sz="1100" dirty="0"/>
              <a:t>	agentes: [</a:t>
            </a:r>
            <a:r>
              <a:rPr lang="es-ES" sz="1100" dirty="0" err="1"/>
              <a:t>architecture</a:t>
            </a:r>
            <a:r>
              <a:rPr lang="es-ES" sz="1100" dirty="0"/>
              <a:t>]</a:t>
            </a:r>
          </a:p>
          <a:p>
            <a:r>
              <a:rPr lang="es-ES" sz="1100" dirty="0"/>
              <a:t>	flujo: [director, </a:t>
            </a:r>
            <a:r>
              <a:rPr lang="es-ES" sz="1100" dirty="0" err="1"/>
              <a:t>product</a:t>
            </a:r>
            <a:r>
              <a:rPr lang="es-ES" sz="1100" dirty="0"/>
              <a:t>, </a:t>
            </a:r>
            <a:r>
              <a:rPr lang="es-ES" sz="1100" dirty="0" err="1"/>
              <a:t>architecture</a:t>
            </a:r>
            <a:r>
              <a:rPr lang="es-ES" sz="1100" dirty="0"/>
              <a:t>]</a:t>
            </a:r>
          </a:p>
          <a:p>
            <a:r>
              <a:rPr lang="es-ES" sz="1100" dirty="0"/>
              <a:t>	artefactos: [</a:t>
            </a:r>
            <a:r>
              <a:rPr lang="es-ES" sz="1100" dirty="0" err="1"/>
              <a:t>docs</a:t>
            </a:r>
            <a:r>
              <a:rPr lang="es-ES" sz="1100" dirty="0"/>
              <a:t>/ADR/ADR-015_mobile_app_screens.md]</a:t>
            </a:r>
          </a:p>
          <a:p>
            <a:r>
              <a:rPr lang="es-ES" sz="1100" dirty="0"/>
              <a:t>	estado: done</a:t>
            </a:r>
          </a:p>
          <a:p>
            <a:r>
              <a:rPr lang="es-ES" sz="1100" b="1" dirty="0"/>
              <a:t>	---</a:t>
            </a:r>
            <a:endParaRPr lang="es-ES" sz="1100" dirty="0"/>
          </a:p>
          <a:p>
            <a:pPr marL="228600" indent="-228600">
              <a:spcAft>
                <a:spcPts val="1200"/>
              </a:spcAft>
              <a:buSzPct val="100000"/>
              <a:buChar char="●"/>
            </a:pPr>
            <a:r>
              <a:rPr lang="en-US" sz="1800" dirty="0" err="1">
                <a:solidFill>
                  <a:srgbClr val="15192B"/>
                </a:solidFill>
                <a:latin typeface="Calibri" pitchFamily="34" charset="0"/>
                <a:ea typeface="Calibri" pitchFamily="34" charset="-122"/>
                <a:cs typeface="Calibri" pitchFamily="34" charset="-120"/>
              </a:rPr>
              <a:t>Migración</a:t>
            </a:r>
            <a:r>
              <a:rPr lang="en-US" sz="1800" dirty="0">
                <a:solidFill>
                  <a:srgbClr val="15192B"/>
                </a:solidFill>
                <a:latin typeface="Calibri" pitchFamily="34" charset="0"/>
                <a:ea typeface="Calibri" pitchFamily="34" charset="-122"/>
                <a:cs typeface="Calibri" pitchFamily="34" charset="-120"/>
              </a:rPr>
              <a:t> retroactiva completa: 86/86 entradas migradas, 49 tareas distintas</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npm run metrics -- --report calcula los KPIs automáticamente</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7258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72585"/>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F72585"/>
                </a:solidFill>
                <a:latin typeface="Calibri" pitchFamily="34" charset="0"/>
                <a:ea typeface="Calibri" pitchFamily="34" charset="-122"/>
                <a:cs typeface="Calibri" pitchFamily="34" charset="-120"/>
              </a:rPr>
              <a:t>GOBERNANZA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Resultados medidos (KPIs reales)</a:t>
            </a:r>
            <a:endParaRPr lang="en-US" sz="2800" dirty="0"/>
          </a:p>
        </p:txBody>
      </p:sp>
      <p:sp>
        <p:nvSpPr>
          <p:cNvPr id="5" name="Shape 3"/>
          <p:cNvSpPr/>
          <p:nvPr/>
        </p:nvSpPr>
        <p:spPr>
          <a:xfrm>
            <a:off x="502920" y="1417320"/>
            <a:ext cx="11155680" cy="0"/>
          </a:xfrm>
          <a:prstGeom prst="line">
            <a:avLst/>
          </a:prstGeom>
          <a:noFill/>
          <a:ln w="25400">
            <a:solidFill>
              <a:srgbClr val="F72585"/>
            </a:solidFill>
            <a:prstDash val="solid"/>
          </a:ln>
        </p:spPr>
        <p:txBody>
          <a:bodyPr/>
          <a:lstStyle/>
          <a:p>
            <a:endParaRPr lang="es-ES"/>
          </a:p>
        </p:txBody>
      </p:sp>
      <p:graphicFrame>
        <p:nvGraphicFramePr>
          <p:cNvPr id="17" name="Table 0"/>
          <p:cNvGraphicFramePr>
            <a:graphicFrameLocks noGrp="1"/>
          </p:cNvGraphicFramePr>
          <p:nvPr>
            <p:extLst>
              <p:ext uri="{D42A27DB-BD31-4B8C-83A1-F6EECF244321}">
                <p14:modId xmlns:p14="http://schemas.microsoft.com/office/powerpoint/2010/main" val="4239378646"/>
              </p:ext>
            </p:extLst>
          </p:nvPr>
        </p:nvGraphicFramePr>
        <p:xfrm>
          <a:off x="502920" y="1783080"/>
          <a:ext cx="11155680" cy="3108960"/>
        </p:xfrm>
        <a:graphic>
          <a:graphicData uri="http://schemas.openxmlformats.org/drawingml/2006/table">
            <a:tbl>
              <a:tblPr/>
              <a:tblGrid>
                <a:gridCol w="5577840">
                  <a:extLst>
                    <a:ext uri="{9D8B030D-6E8A-4147-A177-3AD203B41FA5}">
                      <a16:colId xmlns:a16="http://schemas.microsoft.com/office/drawing/2014/main" val="20000"/>
                    </a:ext>
                  </a:extLst>
                </a:gridCol>
                <a:gridCol w="5577840">
                  <a:extLst>
                    <a:ext uri="{9D8B030D-6E8A-4147-A177-3AD203B41FA5}">
                      <a16:colId xmlns:a16="http://schemas.microsoft.com/office/drawing/2014/main" val="20001"/>
                    </a:ext>
                  </a:extLst>
                </a:gridCol>
              </a:tblGrid>
              <a:tr h="518160">
                <a:tc>
                  <a:txBody>
                    <a:bodyPr/>
                    <a:lstStyle/>
                    <a:p>
                      <a:pPr marL="0" indent="0">
                        <a:buNone/>
                      </a:pPr>
                      <a:r>
                        <a:rPr lang="en-US" sz="1500" b="1" dirty="0">
                          <a:solidFill>
                            <a:srgbClr val="F72585"/>
                          </a:solidFill>
                          <a:latin typeface="Calibri" pitchFamily="34" charset="0"/>
                          <a:ea typeface="Calibri" pitchFamily="34" charset="-122"/>
                          <a:cs typeface="Calibri" pitchFamily="34" charset="-120"/>
                        </a:rPr>
                        <a:t>KPI</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15192B"/>
                    </a:solidFill>
                  </a:tcPr>
                </a:tc>
                <a:tc>
                  <a:txBody>
                    <a:bodyPr/>
                    <a:lstStyle/>
                    <a:p>
                      <a:pPr marL="0" indent="0">
                        <a:buNone/>
                      </a:pPr>
                      <a:r>
                        <a:rPr lang="en-US" sz="1500" b="1" dirty="0">
                          <a:solidFill>
                            <a:srgbClr val="F72585"/>
                          </a:solidFill>
                          <a:latin typeface="Calibri" pitchFamily="34" charset="0"/>
                          <a:ea typeface="Calibri" pitchFamily="34" charset="-122"/>
                          <a:cs typeface="Calibri" pitchFamily="34" charset="-120"/>
                        </a:rPr>
                        <a:t>Valor medido</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15192B"/>
                    </a:solidFill>
                  </a:tcPr>
                </a:tc>
                <a:extLst>
                  <a:ext uri="{0D108BD9-81ED-4DB2-BD59-A6C34878D82A}">
                    <a16:rowId xmlns:a16="http://schemas.microsoft.com/office/drawing/2014/main" val="10000"/>
                  </a:ext>
                </a:extLst>
              </a:tr>
              <a:tr h="518160">
                <a:tc>
                  <a:txBody>
                    <a:bodyPr/>
                    <a:lstStyle/>
                    <a:p>
                      <a:pPr marL="0" indent="0">
                        <a:buNone/>
                      </a:pPr>
                      <a:r>
                        <a:rPr lang="en-US" sz="1500" dirty="0">
                          <a:solidFill>
                            <a:srgbClr val="15192B"/>
                          </a:solidFill>
                          <a:latin typeface="Calibri" pitchFamily="34" charset="0"/>
                          <a:ea typeface="Calibri" pitchFamily="34" charset="-122"/>
                          <a:cs typeface="Calibri" pitchFamily="34" charset="-120"/>
                        </a:rPr>
                        <a:t>% tareas con handoff estructurado</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marL="0" indent="0">
                        <a:buNone/>
                      </a:pPr>
                      <a:r>
                        <a:rPr lang="en-US" sz="1500" b="1" dirty="0">
                          <a:solidFill>
                            <a:srgbClr val="F72585"/>
                          </a:solidFill>
                          <a:latin typeface="Calibri" pitchFamily="34" charset="0"/>
                          <a:ea typeface="Calibri" pitchFamily="34" charset="-122"/>
                          <a:cs typeface="Calibri" pitchFamily="34" charset="-120"/>
                        </a:rPr>
                        <a:t>962% (5/52)</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8160">
                <a:tc>
                  <a:txBody>
                    <a:bodyPr/>
                    <a:lstStyle/>
                    <a:p>
                      <a:pPr marL="0" indent="0">
                        <a:buNone/>
                      </a:pPr>
                      <a:r>
                        <a:rPr lang="en-US" sz="1500" dirty="0">
                          <a:solidFill>
                            <a:srgbClr val="15192B"/>
                          </a:solidFill>
                          <a:latin typeface="Calibri" pitchFamily="34" charset="0"/>
                          <a:ea typeface="Calibri" pitchFamily="34" charset="-122"/>
                          <a:cs typeface="Calibri" pitchFamily="34" charset="-120"/>
                        </a:rPr>
                        <a:t>% tareas con Reviewer en el flujo</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EF1F8"/>
                    </a:solidFill>
                  </a:tcPr>
                </a:tc>
                <a:tc>
                  <a:txBody>
                    <a:bodyPr/>
                    <a:lstStyle/>
                    <a:p>
                      <a:pPr marL="0" indent="0">
                        <a:buNone/>
                      </a:pPr>
                      <a:r>
                        <a:rPr lang="en-US" sz="1500" b="1" dirty="0">
                          <a:solidFill>
                            <a:srgbClr val="F72585"/>
                          </a:solidFill>
                          <a:latin typeface="Calibri" pitchFamily="34" charset="0"/>
                          <a:ea typeface="Calibri" pitchFamily="34" charset="-122"/>
                          <a:cs typeface="Calibri" pitchFamily="34" charset="-120"/>
                        </a:rPr>
                        <a:t>7,7% (4/52)</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EF1F8"/>
                    </a:solidFill>
                  </a:tcPr>
                </a:tc>
                <a:extLst>
                  <a:ext uri="{0D108BD9-81ED-4DB2-BD59-A6C34878D82A}">
                    <a16:rowId xmlns:a16="http://schemas.microsoft.com/office/drawing/2014/main" val="10002"/>
                  </a:ext>
                </a:extLst>
              </a:tr>
              <a:tr h="518160">
                <a:tc>
                  <a:txBody>
                    <a:bodyPr/>
                    <a:lstStyle/>
                    <a:p>
                      <a:pPr marL="0" indent="0">
                        <a:buNone/>
                      </a:pPr>
                      <a:r>
                        <a:rPr lang="en-US" sz="1500" dirty="0">
                          <a:solidFill>
                            <a:srgbClr val="15192B"/>
                          </a:solidFill>
                          <a:latin typeface="Calibri" pitchFamily="34" charset="0"/>
                          <a:ea typeface="Calibri" pitchFamily="34" charset="-122"/>
                          <a:cs typeface="Calibri" pitchFamily="34" charset="-120"/>
                        </a:rPr>
                        <a:t>% tareas con Security en el flujo</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marL="0" indent="0">
                        <a:buNone/>
                      </a:pPr>
                      <a:r>
                        <a:rPr lang="en-US" sz="1500" b="1" dirty="0">
                          <a:solidFill>
                            <a:srgbClr val="F72585"/>
                          </a:solidFill>
                          <a:latin typeface="Calibri" pitchFamily="34" charset="0"/>
                          <a:ea typeface="Calibri" pitchFamily="34" charset="-122"/>
                          <a:cs typeface="Calibri" pitchFamily="34" charset="-120"/>
                        </a:rPr>
                        <a:t>19,2%(10/52)</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8160">
                <a:tc>
                  <a:txBody>
                    <a:bodyPr/>
                    <a:lstStyle/>
                    <a:p>
                      <a:pPr marL="0" indent="0">
                        <a:buNone/>
                      </a:pPr>
                      <a:r>
                        <a:rPr lang="en-US" sz="1500" dirty="0">
                          <a:solidFill>
                            <a:srgbClr val="15192B"/>
                          </a:solidFill>
                          <a:latin typeface="Calibri" pitchFamily="34" charset="0"/>
                          <a:ea typeface="Calibri" pitchFamily="34" charset="-122"/>
                          <a:cs typeface="Calibri" pitchFamily="34" charset="-120"/>
                        </a:rPr>
                        <a:t>Adherencia al flujo completo (7 fases)</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EF1F8"/>
                    </a:solidFill>
                  </a:tcPr>
                </a:tc>
                <a:tc>
                  <a:txBody>
                    <a:bodyPr/>
                    <a:lstStyle/>
                    <a:p>
                      <a:pPr marL="0" indent="0">
                        <a:buNone/>
                      </a:pPr>
                      <a:r>
                        <a:rPr lang="es-ES" sz="1500" b="1" dirty="0">
                          <a:solidFill>
                            <a:srgbClr val="F72585"/>
                          </a:solidFill>
                          <a:latin typeface="Calibri" pitchFamily="34" charset="0"/>
                          <a:ea typeface="Calibri" pitchFamily="34" charset="-122"/>
                          <a:cs typeface="Calibri" pitchFamily="34" charset="-120"/>
                        </a:rPr>
                        <a:t>1.9% (1/52) — solape medio 28.0%</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EF1F8"/>
                    </a:solidFill>
                  </a:tcPr>
                </a:tc>
                <a:extLst>
                  <a:ext uri="{0D108BD9-81ED-4DB2-BD59-A6C34878D82A}">
                    <a16:rowId xmlns:a16="http://schemas.microsoft.com/office/drawing/2014/main" val="10004"/>
                  </a:ext>
                </a:extLst>
              </a:tr>
              <a:tr h="518160">
                <a:tc>
                  <a:txBody>
                    <a:bodyPr/>
                    <a:lstStyle/>
                    <a:p>
                      <a:pPr marL="0" indent="0">
                        <a:buNone/>
                      </a:pPr>
                      <a:r>
                        <a:rPr lang="en-US" sz="1500" dirty="0">
                          <a:solidFill>
                            <a:srgbClr val="15192B"/>
                          </a:solidFill>
                          <a:latin typeface="Calibri" pitchFamily="34" charset="0"/>
                          <a:ea typeface="Calibri" pitchFamily="34" charset="-122"/>
                          <a:cs typeface="Calibri" pitchFamily="34" charset="-120"/>
                        </a:rPr>
                        <a:t>Cumplimiento de Reviewer cuando el flujo lo exigía</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marL="0" indent="0">
                        <a:buNone/>
                      </a:pPr>
                      <a:r>
                        <a:rPr lang="en-US" sz="1500" b="1" dirty="0">
                          <a:solidFill>
                            <a:srgbClr val="F72585"/>
                          </a:solidFill>
                          <a:latin typeface="Calibri" pitchFamily="34" charset="0"/>
                          <a:ea typeface="Calibri" pitchFamily="34" charset="-122"/>
                          <a:cs typeface="Calibri" pitchFamily="34" charset="-120"/>
                        </a:rPr>
                        <a:t>50,0% (1/2)</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502920" y="5074920"/>
            <a:ext cx="11155680" cy="365760"/>
          </a:xfrm>
          <a:prstGeom prst="rect">
            <a:avLst/>
          </a:prstGeom>
          <a:noFill/>
          <a:ln/>
        </p:spPr>
        <p:txBody>
          <a:bodyPr wrap="square" rtlCol="0" anchor="ctr"/>
          <a:lstStyle/>
          <a:p>
            <a:r>
              <a:rPr lang="en-US" sz="1200" i="1" dirty="0">
                <a:solidFill>
                  <a:srgbClr val="3A4059"/>
                </a:solidFill>
                <a:latin typeface="Calibri" pitchFamily="34" charset="0"/>
                <a:ea typeface="Calibri" pitchFamily="34" charset="-122"/>
                <a:cs typeface="Calibri" pitchFamily="34" charset="-120"/>
              </a:rPr>
              <a:t>docs/metrics/trazabilidad.md, </a:t>
            </a:r>
            <a:r>
              <a:rPr lang="en-US" sz="1200" i="1" dirty="0" err="1">
                <a:solidFill>
                  <a:srgbClr val="3A4059"/>
                </a:solidFill>
                <a:latin typeface="Calibri" pitchFamily="34" charset="0"/>
                <a:ea typeface="Calibri" pitchFamily="34" charset="-122"/>
                <a:cs typeface="Calibri" pitchFamily="34" charset="-120"/>
              </a:rPr>
              <a:t>generado</a:t>
            </a:r>
            <a:r>
              <a:rPr lang="en-US" sz="1200" i="1" dirty="0">
                <a:solidFill>
                  <a:srgbClr val="3A4059"/>
                </a:solidFill>
                <a:latin typeface="Calibri" pitchFamily="34" charset="0"/>
                <a:ea typeface="Calibri" pitchFamily="34" charset="-122"/>
                <a:cs typeface="Calibri" pitchFamily="34" charset="-120"/>
              </a:rPr>
              <a:t> </a:t>
            </a:r>
            <a:r>
              <a:rPr lang="es-ES" sz="1200" i="1" dirty="0">
                <a:solidFill>
                  <a:srgbClr val="3A4059"/>
                </a:solidFill>
                <a:latin typeface="Calibri" pitchFamily="34" charset="0"/>
                <a:ea typeface="Calibri" pitchFamily="34" charset="-122"/>
                <a:cs typeface="Calibri" pitchFamily="34" charset="-120"/>
              </a:rPr>
              <a:t>2026-08-22</a:t>
            </a:r>
            <a:r>
              <a:rPr lang="en-US" sz="1200" i="1" dirty="0">
                <a:solidFill>
                  <a:srgbClr val="3A4059"/>
                </a:solidFill>
                <a:latin typeface="Calibri" pitchFamily="34" charset="0"/>
                <a:ea typeface="Calibri" pitchFamily="34" charset="-122"/>
                <a:cs typeface="Calibri" pitchFamily="34" charset="-120"/>
              </a:rPr>
              <a:t> </a:t>
            </a:r>
            <a:r>
              <a:rPr lang="en-US" sz="1200" i="1" dirty="0" err="1">
                <a:solidFill>
                  <a:srgbClr val="3A4059"/>
                </a:solidFill>
                <a:latin typeface="Calibri" pitchFamily="34" charset="0"/>
                <a:ea typeface="Calibri" pitchFamily="34" charset="-122"/>
                <a:cs typeface="Calibri" pitchFamily="34" charset="-120"/>
              </a:rPr>
              <a:t>sobre</a:t>
            </a:r>
            <a:r>
              <a:rPr lang="en-US" sz="1200" i="1" dirty="0">
                <a:solidFill>
                  <a:srgbClr val="3A4059"/>
                </a:solidFill>
                <a:latin typeface="Calibri" pitchFamily="34" charset="0"/>
                <a:ea typeface="Calibri" pitchFamily="34" charset="-122"/>
                <a:cs typeface="Calibri" pitchFamily="34" charset="-120"/>
              </a:rPr>
              <a:t> 94 entradas / 52 </a:t>
            </a:r>
            <a:r>
              <a:rPr lang="en-US" sz="1200" i="1" dirty="0" err="1">
                <a:solidFill>
                  <a:srgbClr val="3A4059"/>
                </a:solidFill>
                <a:latin typeface="Calibri" pitchFamily="34" charset="0"/>
                <a:ea typeface="Calibri" pitchFamily="34" charset="-122"/>
                <a:cs typeface="Calibri" pitchFamily="34" charset="-120"/>
              </a:rPr>
              <a:t>tareas</a:t>
            </a:r>
            <a:r>
              <a:rPr lang="en-US" sz="1200" i="1" dirty="0">
                <a:solidFill>
                  <a:srgbClr val="3A4059"/>
                </a:solidFill>
                <a:latin typeface="Calibri" pitchFamily="34" charset="0"/>
                <a:ea typeface="Calibri" pitchFamily="34" charset="-122"/>
                <a:cs typeface="Calibri" pitchFamily="34" charset="-120"/>
              </a:rPr>
              <a:t>. Se </a:t>
            </a:r>
            <a:r>
              <a:rPr lang="en-US" sz="1200" i="1" dirty="0" err="1">
                <a:solidFill>
                  <a:srgbClr val="3A4059"/>
                </a:solidFill>
                <a:latin typeface="Calibri" pitchFamily="34" charset="0"/>
                <a:ea typeface="Calibri" pitchFamily="34" charset="-122"/>
                <a:cs typeface="Calibri" pitchFamily="34" charset="-120"/>
              </a:rPr>
              <a:t>observa</a:t>
            </a:r>
            <a:r>
              <a:rPr lang="en-US" sz="1200" i="1" dirty="0">
                <a:solidFill>
                  <a:srgbClr val="3A4059"/>
                </a:solidFill>
                <a:latin typeface="Calibri" pitchFamily="34" charset="0"/>
                <a:ea typeface="Calibri" pitchFamily="34" charset="-122"/>
                <a:cs typeface="Calibri" pitchFamily="34" charset="-120"/>
              </a:rPr>
              <a:t> </a:t>
            </a:r>
            <a:r>
              <a:rPr lang="en-US" sz="1200" i="1" dirty="0" err="1">
                <a:solidFill>
                  <a:srgbClr val="3A4059"/>
                </a:solidFill>
                <a:latin typeface="Calibri" pitchFamily="34" charset="0"/>
                <a:ea typeface="Calibri" pitchFamily="34" charset="-122"/>
                <a:cs typeface="Calibri" pitchFamily="34" charset="-120"/>
              </a:rPr>
              <a:t>que</a:t>
            </a:r>
            <a:r>
              <a:rPr lang="en-US" sz="1200" i="1" dirty="0">
                <a:solidFill>
                  <a:srgbClr val="3A4059"/>
                </a:solidFill>
                <a:latin typeface="Calibri" pitchFamily="34" charset="0"/>
                <a:ea typeface="Calibri" pitchFamily="34" charset="-122"/>
                <a:cs typeface="Calibri" pitchFamily="34" charset="-120"/>
              </a:rPr>
              <a:t> </a:t>
            </a:r>
            <a:r>
              <a:rPr lang="en-US" sz="1200" i="1" dirty="0" err="1">
                <a:solidFill>
                  <a:srgbClr val="3A4059"/>
                </a:solidFill>
                <a:latin typeface="Calibri" pitchFamily="34" charset="0"/>
                <a:ea typeface="Calibri" pitchFamily="34" charset="-122"/>
                <a:cs typeface="Calibri" pitchFamily="34" charset="-120"/>
              </a:rPr>
              <a:t>falta</a:t>
            </a:r>
            <a:r>
              <a:rPr lang="en-US" sz="1200" i="1" dirty="0">
                <a:solidFill>
                  <a:srgbClr val="3A4059"/>
                </a:solidFill>
                <a:latin typeface="Calibri" pitchFamily="34" charset="0"/>
                <a:ea typeface="Calibri" pitchFamily="34" charset="-122"/>
                <a:cs typeface="Calibri" pitchFamily="34" charset="-120"/>
              </a:rPr>
              <a:t> </a:t>
            </a:r>
            <a:r>
              <a:rPr lang="en-US" sz="1200" i="1" dirty="0" err="1">
                <a:solidFill>
                  <a:srgbClr val="3A4059"/>
                </a:solidFill>
                <a:latin typeface="Calibri" pitchFamily="34" charset="0"/>
                <a:ea typeface="Calibri" pitchFamily="34" charset="-122"/>
                <a:cs typeface="Calibri" pitchFamily="34" charset="-120"/>
              </a:rPr>
              <a:t>ajustar</a:t>
            </a:r>
            <a:r>
              <a:rPr lang="en-US" sz="1200" i="1" dirty="0">
                <a:solidFill>
                  <a:srgbClr val="3A4059"/>
                </a:solidFill>
                <a:latin typeface="Calibri" pitchFamily="34" charset="0"/>
                <a:ea typeface="Calibri" pitchFamily="34" charset="-122"/>
                <a:cs typeface="Calibri" pitchFamily="34" charset="-120"/>
              </a:rPr>
              <a:t> la norma, se </a:t>
            </a:r>
            <a:r>
              <a:rPr lang="en-US" sz="1200" i="1" dirty="0" err="1">
                <a:solidFill>
                  <a:srgbClr val="3A4059"/>
                </a:solidFill>
                <a:latin typeface="Calibri" pitchFamily="34" charset="0"/>
                <a:ea typeface="Calibri" pitchFamily="34" charset="-122"/>
                <a:cs typeface="Calibri" pitchFamily="34" charset="-120"/>
              </a:rPr>
              <a:t>han</a:t>
            </a:r>
            <a:r>
              <a:rPr lang="en-US" sz="1200" i="1" dirty="0">
                <a:solidFill>
                  <a:srgbClr val="3A4059"/>
                </a:solidFill>
                <a:latin typeface="Calibri" pitchFamily="34" charset="0"/>
                <a:ea typeface="Calibri" pitchFamily="34" charset="-122"/>
                <a:cs typeface="Calibri" pitchFamily="34" charset="-120"/>
              </a:rPr>
              <a:t> </a:t>
            </a:r>
            <a:r>
              <a:rPr lang="en-US" sz="1200" i="1" dirty="0" err="1">
                <a:solidFill>
                  <a:srgbClr val="3A4059"/>
                </a:solidFill>
                <a:latin typeface="Calibri" pitchFamily="34" charset="0"/>
                <a:ea typeface="Calibri" pitchFamily="34" charset="-122"/>
                <a:cs typeface="Calibri" pitchFamily="34" charset="-120"/>
              </a:rPr>
              <a:t>detectado</a:t>
            </a:r>
            <a:r>
              <a:rPr lang="en-US" sz="1200" i="1" dirty="0">
                <a:solidFill>
                  <a:srgbClr val="3A4059"/>
                </a:solidFill>
                <a:latin typeface="Calibri" pitchFamily="34" charset="0"/>
                <a:ea typeface="Calibri" pitchFamily="34" charset="-122"/>
                <a:cs typeface="Calibri" pitchFamily="34" charset="-120"/>
              </a:rPr>
              <a:t> </a:t>
            </a:r>
            <a:r>
              <a:rPr lang="en-US" sz="1200" i="1" dirty="0" err="1">
                <a:solidFill>
                  <a:srgbClr val="3A4059"/>
                </a:solidFill>
                <a:latin typeface="Calibri" pitchFamily="34" charset="0"/>
                <a:ea typeface="Calibri" pitchFamily="34" charset="-122"/>
                <a:cs typeface="Calibri" pitchFamily="34" charset="-120"/>
              </a:rPr>
              <a:t>ocasiones</a:t>
            </a:r>
            <a:r>
              <a:rPr lang="en-US" sz="1200" i="1" dirty="0">
                <a:solidFill>
                  <a:srgbClr val="3A4059"/>
                </a:solidFill>
                <a:latin typeface="Calibri" pitchFamily="34" charset="0"/>
                <a:ea typeface="Calibri" pitchFamily="34" charset="-122"/>
                <a:cs typeface="Calibri" pitchFamily="34" charset="-120"/>
              </a:rPr>
              <a:t> </a:t>
            </a:r>
            <a:r>
              <a:rPr lang="en-US" sz="1200" i="1" dirty="0" err="1">
                <a:solidFill>
                  <a:srgbClr val="3A4059"/>
                </a:solidFill>
                <a:latin typeface="Calibri" pitchFamily="34" charset="0"/>
                <a:ea typeface="Calibri" pitchFamily="34" charset="-122"/>
                <a:cs typeface="Calibri" pitchFamily="34" charset="-120"/>
              </a:rPr>
              <a:t>en</a:t>
            </a:r>
            <a:r>
              <a:rPr lang="en-US" sz="1200" i="1" dirty="0">
                <a:solidFill>
                  <a:srgbClr val="3A4059"/>
                </a:solidFill>
                <a:latin typeface="Calibri" pitchFamily="34" charset="0"/>
                <a:ea typeface="Calibri" pitchFamily="34" charset="-122"/>
                <a:cs typeface="Calibri" pitchFamily="34" charset="-120"/>
              </a:rPr>
              <a:t> las </a:t>
            </a:r>
            <a:r>
              <a:rPr lang="en-US" sz="1200" i="1" dirty="0" err="1">
                <a:solidFill>
                  <a:srgbClr val="3A4059"/>
                </a:solidFill>
                <a:latin typeface="Calibri" pitchFamily="34" charset="0"/>
                <a:ea typeface="Calibri" pitchFamily="34" charset="-122"/>
                <a:cs typeface="Calibri" pitchFamily="34" charset="-120"/>
              </a:rPr>
              <a:t>que</a:t>
            </a:r>
            <a:r>
              <a:rPr lang="en-US" sz="1200" i="1" dirty="0">
                <a:solidFill>
                  <a:srgbClr val="3A4059"/>
                </a:solidFill>
                <a:latin typeface="Calibri" pitchFamily="34" charset="0"/>
                <a:ea typeface="Calibri" pitchFamily="34" charset="-122"/>
                <a:cs typeface="Calibri" pitchFamily="34" charset="-120"/>
              </a:rPr>
              <a:t> el </a:t>
            </a:r>
            <a:r>
              <a:rPr lang="en-US" sz="1200" i="1" dirty="0" err="1">
                <a:solidFill>
                  <a:srgbClr val="3A4059"/>
                </a:solidFill>
                <a:latin typeface="Calibri" pitchFamily="34" charset="0"/>
                <a:ea typeface="Calibri" pitchFamily="34" charset="-122"/>
                <a:cs typeface="Calibri" pitchFamily="34" charset="-120"/>
              </a:rPr>
              <a:t>Agente</a:t>
            </a:r>
            <a:r>
              <a:rPr lang="en-US" sz="1200" i="1" dirty="0">
                <a:solidFill>
                  <a:srgbClr val="3A4059"/>
                </a:solidFill>
                <a:latin typeface="Calibri" pitchFamily="34" charset="0"/>
                <a:ea typeface="Calibri" pitchFamily="34" charset="-122"/>
                <a:cs typeface="Calibri" pitchFamily="34" charset="-120"/>
              </a:rPr>
              <a:t> no </a:t>
            </a:r>
            <a:r>
              <a:rPr lang="en-US" sz="1200" i="1" dirty="0" err="1">
                <a:solidFill>
                  <a:srgbClr val="3A4059"/>
                </a:solidFill>
                <a:latin typeface="Calibri" pitchFamily="34" charset="0"/>
                <a:ea typeface="Calibri" pitchFamily="34" charset="-122"/>
                <a:cs typeface="Calibri" pitchFamily="34" charset="-120"/>
              </a:rPr>
              <a:t>mantenia</a:t>
            </a:r>
            <a:r>
              <a:rPr lang="en-US" sz="1200" i="1" dirty="0">
                <a:solidFill>
                  <a:srgbClr val="3A4059"/>
                </a:solidFill>
                <a:latin typeface="Calibri" pitchFamily="34" charset="0"/>
                <a:ea typeface="Calibri" pitchFamily="34" charset="-122"/>
                <a:cs typeface="Calibri" pitchFamily="34" charset="-120"/>
              </a:rPr>
              <a:t> las </a:t>
            </a:r>
            <a:r>
              <a:rPr lang="en-US" sz="1200" i="1" dirty="0" err="1">
                <a:solidFill>
                  <a:srgbClr val="3A4059"/>
                </a:solidFill>
                <a:latin typeface="Calibri" pitchFamily="34" charset="0"/>
                <a:ea typeface="Calibri" pitchFamily="34" charset="-122"/>
                <a:cs typeface="Calibri" pitchFamily="34" charset="-120"/>
              </a:rPr>
              <a:t>normas</a:t>
            </a:r>
            <a:r>
              <a:rPr lang="en-US" sz="1200" i="1" dirty="0">
                <a:solidFill>
                  <a:srgbClr val="3A4059"/>
                </a:solidFill>
                <a:latin typeface="Calibri" pitchFamily="34" charset="0"/>
                <a:ea typeface="Calibri" pitchFamily="34" charset="-122"/>
                <a:cs typeface="Calibri" pitchFamily="34" charset="-120"/>
              </a:rPr>
              <a:t> </a:t>
            </a:r>
            <a:r>
              <a:rPr lang="en-US" sz="1200" i="1" dirty="0" err="1">
                <a:solidFill>
                  <a:srgbClr val="3A4059"/>
                </a:solidFill>
                <a:latin typeface="Calibri" pitchFamily="34" charset="0"/>
                <a:ea typeface="Calibri" pitchFamily="34" charset="-122"/>
                <a:cs typeface="Calibri" pitchFamily="34" charset="-120"/>
              </a:rPr>
              <a:t>en</a:t>
            </a:r>
            <a:r>
              <a:rPr lang="en-US" sz="1200" i="1" dirty="0">
                <a:solidFill>
                  <a:srgbClr val="3A4059"/>
                </a:solidFill>
                <a:latin typeface="Calibri" pitchFamily="34" charset="0"/>
                <a:ea typeface="Calibri" pitchFamily="34" charset="-122"/>
                <a:cs typeface="Calibri" pitchFamily="34" charset="-120"/>
              </a:rPr>
              <a:t> la </a:t>
            </a:r>
            <a:r>
              <a:rPr lang="en-US" sz="1200" i="1" dirty="0" err="1">
                <a:solidFill>
                  <a:srgbClr val="3A4059"/>
                </a:solidFill>
                <a:latin typeface="Calibri" pitchFamily="34" charset="0"/>
                <a:ea typeface="Calibri" pitchFamily="34" charset="-122"/>
                <a:cs typeface="Calibri" pitchFamily="34" charset="-120"/>
              </a:rPr>
              <a:t>traza</a:t>
            </a:r>
            <a:r>
              <a:rPr lang="en-US" sz="1200" i="1" dirty="0">
                <a:solidFill>
                  <a:srgbClr val="3A4059"/>
                </a:solidFill>
                <a:latin typeface="Calibri" pitchFamily="34" charset="0"/>
                <a:ea typeface="Calibri" pitchFamily="34" charset="-122"/>
                <a:cs typeface="Calibri" pitchFamily="34" charset="-120"/>
              </a:rPr>
              <a:t> del </a:t>
            </a:r>
            <a:r>
              <a:rPr lang="en-US" sz="1200" i="1" dirty="0" err="1">
                <a:solidFill>
                  <a:srgbClr val="3A4059"/>
                </a:solidFill>
                <a:latin typeface="Calibri" pitchFamily="34" charset="0"/>
                <a:ea typeface="Calibri" pitchFamily="34" charset="-122"/>
                <a:cs typeface="Calibri" pitchFamily="34" charset="-120"/>
              </a:rPr>
              <a:t>flujo</a:t>
            </a:r>
            <a:r>
              <a:rPr lang="en-US" sz="1200" i="1" dirty="0">
                <a:solidFill>
                  <a:srgbClr val="3A4059"/>
                </a:solidFill>
                <a:latin typeface="Calibri" pitchFamily="34" charset="0"/>
                <a:ea typeface="Calibri" pitchFamily="34" charset="-122"/>
                <a:cs typeface="Calibri" pitchFamily="34" charset="-120"/>
              </a:rPr>
              <a:t> de </a:t>
            </a:r>
            <a:r>
              <a:rPr lang="en-US" sz="1200" i="1" dirty="0" err="1">
                <a:solidFill>
                  <a:srgbClr val="3A4059"/>
                </a:solidFill>
                <a:latin typeface="Calibri" pitchFamily="34" charset="0"/>
                <a:ea typeface="Calibri" pitchFamily="34" charset="-122"/>
                <a:cs typeface="Calibri" pitchFamily="34" charset="-120"/>
              </a:rPr>
              <a:t>tareas</a:t>
            </a:r>
            <a:r>
              <a:rPr lang="en-US" sz="1200" i="1" dirty="0">
                <a:solidFill>
                  <a:srgbClr val="3A4059"/>
                </a:solidFill>
                <a:latin typeface="Calibri" pitchFamily="34" charset="0"/>
                <a:ea typeface="Calibri" pitchFamily="34" charset="-122"/>
                <a:cs typeface="Calibri" pitchFamily="34" charset="-120"/>
              </a:rPr>
              <a:t>.</a:t>
            </a:r>
            <a:endParaRPr lang="en-US" sz="1200" dirty="0"/>
          </a:p>
        </p:txBody>
      </p:sp>
      <p:sp>
        <p:nvSpPr>
          <p:cNvPr id="9"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10"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7258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72585"/>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F72585"/>
                </a:solidFill>
                <a:latin typeface="Calibri" pitchFamily="34" charset="0"/>
                <a:ea typeface="Calibri" pitchFamily="34" charset="-122"/>
                <a:cs typeface="Calibri" pitchFamily="34" charset="-120"/>
              </a:rPr>
              <a:t>GOBERNANZA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Errores reales (selección)</a:t>
            </a:r>
            <a:endParaRPr lang="en-US" sz="2800" dirty="0"/>
          </a:p>
        </p:txBody>
      </p:sp>
      <p:sp>
        <p:nvSpPr>
          <p:cNvPr id="5" name="Shape 3"/>
          <p:cNvSpPr/>
          <p:nvPr/>
        </p:nvSpPr>
        <p:spPr>
          <a:xfrm>
            <a:off x="502920" y="1417320"/>
            <a:ext cx="11155680" cy="0"/>
          </a:xfrm>
          <a:prstGeom prst="line">
            <a:avLst/>
          </a:prstGeom>
          <a:noFill/>
          <a:ln w="25400">
            <a:solidFill>
              <a:srgbClr val="F72585"/>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a:spcAft>
                <a:spcPts val="1200"/>
              </a:spcAft>
              <a:buSzPct val="100000"/>
            </a:pPr>
            <a:r>
              <a:rPr lang="en-US" dirty="0">
                <a:solidFill>
                  <a:srgbClr val="15192B"/>
                </a:solidFill>
                <a:latin typeface="Calibri" pitchFamily="34" charset="0"/>
                <a:ea typeface="Calibri" pitchFamily="34" charset="-122"/>
                <a:cs typeface="Calibri" pitchFamily="34" charset="-120"/>
              </a:rPr>
              <a:t>Durante la </a:t>
            </a:r>
            <a:r>
              <a:rPr lang="en-US" dirty="0" err="1">
                <a:solidFill>
                  <a:srgbClr val="15192B"/>
                </a:solidFill>
                <a:latin typeface="Calibri" pitchFamily="34" charset="0"/>
                <a:ea typeface="Calibri" pitchFamily="34" charset="-122"/>
                <a:cs typeface="Calibri" pitchFamily="34" charset="-120"/>
              </a:rPr>
              <a:t>ejecución</a:t>
            </a:r>
            <a:r>
              <a:rPr lang="en-US" dirty="0">
                <a:solidFill>
                  <a:srgbClr val="15192B"/>
                </a:solidFill>
                <a:latin typeface="Calibri" pitchFamily="34" charset="0"/>
                <a:ea typeface="Calibri" pitchFamily="34" charset="-122"/>
                <a:cs typeface="Calibri" pitchFamily="34" charset="-120"/>
              </a:rPr>
              <a:t> se </a:t>
            </a:r>
            <a:r>
              <a:rPr lang="en-US" dirty="0" err="1">
                <a:solidFill>
                  <a:srgbClr val="15192B"/>
                </a:solidFill>
                <a:latin typeface="Calibri" pitchFamily="34" charset="0"/>
                <a:ea typeface="Calibri" pitchFamily="34" charset="-122"/>
                <a:cs typeface="Calibri" pitchFamily="34" charset="-120"/>
              </a:rPr>
              <a:t>han</a:t>
            </a:r>
            <a:r>
              <a:rPr lang="en-US" dirty="0">
                <a:solidFill>
                  <a:srgbClr val="15192B"/>
                </a:solidFill>
                <a:latin typeface="Calibri" pitchFamily="34" charset="0"/>
                <a:ea typeface="Calibri" pitchFamily="34" charset="-122"/>
                <a:cs typeface="Calibri" pitchFamily="34" charset="-120"/>
              </a:rPr>
              <a:t> </a:t>
            </a:r>
            <a:r>
              <a:rPr lang="en-US" dirty="0" err="1">
                <a:solidFill>
                  <a:srgbClr val="15192B"/>
                </a:solidFill>
                <a:latin typeface="Calibri" pitchFamily="34" charset="0"/>
                <a:ea typeface="Calibri" pitchFamily="34" charset="-122"/>
                <a:cs typeface="Calibri" pitchFamily="34" charset="-120"/>
              </a:rPr>
              <a:t>observado</a:t>
            </a:r>
            <a:r>
              <a:rPr lang="en-US" dirty="0">
                <a:solidFill>
                  <a:srgbClr val="15192B"/>
                </a:solidFill>
                <a:latin typeface="Calibri" pitchFamily="34" charset="0"/>
                <a:ea typeface="Calibri" pitchFamily="34" charset="-122"/>
                <a:cs typeface="Calibri" pitchFamily="34" charset="-120"/>
              </a:rPr>
              <a:t> </a:t>
            </a:r>
            <a:r>
              <a:rPr lang="en-US" dirty="0" err="1">
                <a:solidFill>
                  <a:srgbClr val="15192B"/>
                </a:solidFill>
                <a:latin typeface="Calibri" pitchFamily="34" charset="0"/>
                <a:ea typeface="Calibri" pitchFamily="34" charset="-122"/>
                <a:cs typeface="Calibri" pitchFamily="34" charset="-120"/>
              </a:rPr>
              <a:t>errores</a:t>
            </a:r>
            <a:r>
              <a:rPr lang="en-US" dirty="0">
                <a:solidFill>
                  <a:srgbClr val="15192B"/>
                </a:solidFill>
                <a:latin typeface="Calibri" pitchFamily="34" charset="0"/>
                <a:ea typeface="Calibri" pitchFamily="34" charset="-122"/>
                <a:cs typeface="Calibri" pitchFamily="34" charset="-120"/>
              </a:rPr>
              <a:t> de </a:t>
            </a:r>
            <a:r>
              <a:rPr lang="en-US" dirty="0" err="1">
                <a:solidFill>
                  <a:srgbClr val="15192B"/>
                </a:solidFill>
                <a:latin typeface="Calibri" pitchFamily="34" charset="0"/>
                <a:ea typeface="Calibri" pitchFamily="34" charset="-122"/>
                <a:cs typeface="Calibri" pitchFamily="34" charset="-120"/>
              </a:rPr>
              <a:t>implementación</a:t>
            </a:r>
            <a:r>
              <a:rPr lang="en-US" dirty="0">
                <a:solidFill>
                  <a:srgbClr val="15192B"/>
                </a:solidFill>
                <a:latin typeface="Calibri" pitchFamily="34" charset="0"/>
                <a:ea typeface="Calibri" pitchFamily="34" charset="-122"/>
                <a:cs typeface="Calibri" pitchFamily="34" charset="-120"/>
              </a:rPr>
              <a:t>, no solo de Código, </a:t>
            </a:r>
            <a:r>
              <a:rPr lang="en-US" dirty="0" err="1">
                <a:solidFill>
                  <a:srgbClr val="15192B"/>
                </a:solidFill>
                <a:latin typeface="Calibri" pitchFamily="34" charset="0"/>
                <a:ea typeface="Calibri" pitchFamily="34" charset="-122"/>
                <a:cs typeface="Calibri" pitchFamily="34" charset="-120"/>
              </a:rPr>
              <a:t>si</a:t>
            </a:r>
            <a:r>
              <a:rPr lang="en-US" dirty="0">
                <a:solidFill>
                  <a:srgbClr val="15192B"/>
                </a:solidFill>
                <a:latin typeface="Calibri" pitchFamily="34" charset="0"/>
                <a:ea typeface="Calibri" pitchFamily="34" charset="-122"/>
                <a:cs typeface="Calibri" pitchFamily="34" charset="-120"/>
              </a:rPr>
              <a:t> no </a:t>
            </a:r>
            <a:r>
              <a:rPr lang="en-US" dirty="0" err="1">
                <a:solidFill>
                  <a:srgbClr val="15192B"/>
                </a:solidFill>
                <a:latin typeface="Calibri" pitchFamily="34" charset="0"/>
                <a:ea typeface="Calibri" pitchFamily="34" charset="-122"/>
                <a:cs typeface="Calibri" pitchFamily="34" charset="-120"/>
              </a:rPr>
              <a:t>sobre</a:t>
            </a:r>
            <a:r>
              <a:rPr lang="en-US" dirty="0">
                <a:solidFill>
                  <a:srgbClr val="15192B"/>
                </a:solidFill>
                <a:latin typeface="Calibri" pitchFamily="34" charset="0"/>
                <a:ea typeface="Calibri" pitchFamily="34" charset="-122"/>
                <a:cs typeface="Calibri" pitchFamily="34" charset="-120"/>
              </a:rPr>
              <a:t> </a:t>
            </a:r>
            <a:r>
              <a:rPr lang="en-US" dirty="0" err="1">
                <a:solidFill>
                  <a:srgbClr val="15192B"/>
                </a:solidFill>
                <a:latin typeface="Calibri" pitchFamily="34" charset="0"/>
                <a:ea typeface="Calibri" pitchFamily="34" charset="-122"/>
                <a:cs typeface="Calibri" pitchFamily="34" charset="-120"/>
              </a:rPr>
              <a:t>todo</a:t>
            </a:r>
            <a:r>
              <a:rPr lang="en-US" dirty="0">
                <a:solidFill>
                  <a:srgbClr val="15192B"/>
                </a:solidFill>
                <a:latin typeface="Calibri" pitchFamily="34" charset="0"/>
                <a:ea typeface="Calibri" pitchFamily="34" charset="-122"/>
                <a:cs typeface="Calibri" pitchFamily="34" charset="-120"/>
              </a:rPr>
              <a:t> de </a:t>
            </a:r>
            <a:r>
              <a:rPr lang="en-US" dirty="0" err="1">
                <a:solidFill>
                  <a:srgbClr val="15192B"/>
                </a:solidFill>
                <a:latin typeface="Calibri" pitchFamily="34" charset="0"/>
                <a:ea typeface="Calibri" pitchFamily="34" charset="-122"/>
                <a:cs typeface="Calibri" pitchFamily="34" charset="-120"/>
              </a:rPr>
              <a:t>falta</a:t>
            </a:r>
            <a:r>
              <a:rPr lang="en-US" dirty="0">
                <a:solidFill>
                  <a:srgbClr val="15192B"/>
                </a:solidFill>
                <a:latin typeface="Calibri" pitchFamily="34" charset="0"/>
                <a:ea typeface="Calibri" pitchFamily="34" charset="-122"/>
                <a:cs typeface="Calibri" pitchFamily="34" charset="-120"/>
              </a:rPr>
              <a:t> de </a:t>
            </a:r>
            <a:r>
              <a:rPr lang="en-US" dirty="0" err="1">
                <a:solidFill>
                  <a:srgbClr val="15192B"/>
                </a:solidFill>
                <a:latin typeface="Calibri" pitchFamily="34" charset="0"/>
                <a:ea typeface="Calibri" pitchFamily="34" charset="-122"/>
                <a:cs typeface="Calibri" pitchFamily="34" charset="-120"/>
              </a:rPr>
              <a:t>expecificación</a:t>
            </a:r>
            <a:r>
              <a:rPr lang="en-US" dirty="0">
                <a:solidFill>
                  <a:srgbClr val="15192B"/>
                </a:solidFill>
                <a:latin typeface="Calibri" pitchFamily="34" charset="0"/>
                <a:ea typeface="Calibri" pitchFamily="34" charset="-122"/>
                <a:cs typeface="Calibri" pitchFamily="34" charset="-120"/>
              </a:rPr>
              <a:t> </a:t>
            </a:r>
            <a:r>
              <a:rPr lang="en-US" dirty="0" err="1">
                <a:solidFill>
                  <a:srgbClr val="15192B"/>
                </a:solidFill>
                <a:latin typeface="Calibri" pitchFamily="34" charset="0"/>
                <a:ea typeface="Calibri" pitchFamily="34" charset="-122"/>
                <a:cs typeface="Calibri" pitchFamily="34" charset="-120"/>
              </a:rPr>
              <a:t>en</a:t>
            </a:r>
            <a:r>
              <a:rPr lang="en-US" dirty="0">
                <a:solidFill>
                  <a:srgbClr val="15192B"/>
                </a:solidFill>
                <a:latin typeface="Calibri" pitchFamily="34" charset="0"/>
                <a:ea typeface="Calibri" pitchFamily="34" charset="-122"/>
                <a:cs typeface="Calibri" pitchFamily="34" charset="-120"/>
              </a:rPr>
              <a:t> </a:t>
            </a:r>
            <a:r>
              <a:rPr lang="en-US" dirty="0" err="1">
                <a:solidFill>
                  <a:srgbClr val="15192B"/>
                </a:solidFill>
                <a:latin typeface="Calibri" pitchFamily="34" charset="0"/>
                <a:ea typeface="Calibri" pitchFamily="34" charset="-122"/>
                <a:cs typeface="Calibri" pitchFamily="34" charset="-120"/>
              </a:rPr>
              <a:t>detalles</a:t>
            </a:r>
            <a:r>
              <a:rPr lang="en-US" dirty="0">
                <a:solidFill>
                  <a:srgbClr val="15192B"/>
                </a:solidFill>
                <a:latin typeface="Calibri" pitchFamily="34" charset="0"/>
                <a:ea typeface="Calibri" pitchFamily="34" charset="-122"/>
                <a:cs typeface="Calibri" pitchFamily="34" charset="-120"/>
              </a:rPr>
              <a:t>.</a:t>
            </a:r>
            <a:endParaRPr lang="en-US" sz="1800" dirty="0">
              <a:solidFill>
                <a:srgbClr val="15192B"/>
              </a:solidFill>
              <a:latin typeface="Calibri" pitchFamily="34" charset="0"/>
              <a:ea typeface="Calibri" pitchFamily="34" charset="-122"/>
              <a:cs typeface="Calibri" pitchFamily="34" charset="-120"/>
            </a:endParaRPr>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IDOR en mensajes de error — 3 rutas distinguían "sesión inexistente" de "sesión de otro usuario" → mensaje genérico + 403</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"Siguiente ejercicio" repetía siempre el mismo — 2 causas raíz: dificultad no repartida en lotes + falta de filtro por type</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LLM devolvía number donde el contrato pedía string — Zod rechazaba lotes completos → coacción explícita en el borde</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Trust policy de AWS OIDC condicionaba por ref, el job usa environment — AssumeRoleWithWebIdentity fallaba siempre (corregido 19/08)</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7258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72585"/>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F72585"/>
                </a:solidFill>
                <a:latin typeface="Calibri" pitchFamily="34" charset="0"/>
                <a:ea typeface="Calibri" pitchFamily="34" charset="-122"/>
                <a:cs typeface="Calibri" pitchFamily="34" charset="-120"/>
              </a:rPr>
              <a:t>GOBERNANZA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Buenas prácticas aplicadas</a:t>
            </a:r>
            <a:endParaRPr lang="en-US" sz="2800" dirty="0"/>
          </a:p>
        </p:txBody>
      </p:sp>
      <p:sp>
        <p:nvSpPr>
          <p:cNvPr id="5" name="Shape 3"/>
          <p:cNvSpPr/>
          <p:nvPr/>
        </p:nvSpPr>
        <p:spPr>
          <a:xfrm>
            <a:off x="502920" y="1417320"/>
            <a:ext cx="11155680" cy="0"/>
          </a:xfrm>
          <a:prstGeom prst="line">
            <a:avLst/>
          </a:prstGeom>
          <a:noFill/>
          <a:ln w="25400">
            <a:solidFill>
              <a:srgbClr val="F72585"/>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ADRs vivos, no estáticos — se enmiendan con adendas fechadas, nunca se reescriben</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TDD real, no nominal — ciclo Red→Green desde el primer componente de dominio</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Validación de contratos de IA en el borde, no confianza ciega en la salida del LLM (Zod)</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Reevaluación tecnológica documentada, no silenciosa — Chroma→pgvector, 5 ADR de seguridad→1</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Deuda técnica aceptada de forma explícita, nunca oculta tras un mock que no demuestra nada real</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7258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72585"/>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F72585"/>
                </a:solidFill>
                <a:latin typeface="Calibri" pitchFamily="34" charset="0"/>
                <a:ea typeface="Calibri" pitchFamily="34" charset="-122"/>
                <a:cs typeface="Calibri" pitchFamily="34" charset="-120"/>
              </a:rPr>
              <a:t>GOBERNANZA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Patrones de aprendizaje transversales</a:t>
            </a:r>
            <a:endParaRPr lang="en-US" sz="2800" dirty="0"/>
          </a:p>
        </p:txBody>
      </p:sp>
      <p:sp>
        <p:nvSpPr>
          <p:cNvPr id="5" name="Shape 3"/>
          <p:cNvSpPr/>
          <p:nvPr/>
        </p:nvSpPr>
        <p:spPr>
          <a:xfrm>
            <a:off x="502920" y="1417320"/>
            <a:ext cx="11155680" cy="0"/>
          </a:xfrm>
          <a:prstGeom prst="line">
            <a:avLst/>
          </a:prstGeom>
          <a:noFill/>
          <a:ln w="25400">
            <a:solidFill>
              <a:srgbClr val="F72585"/>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El propio sistema falló en seguir su flujo de gobernanza — y lo hizo dos veces, no una</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Los huecos de diseño se revelan al construir el siguiente consumidor real, no al diseñar</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Confiar en la salida de un LLM sin validar en el borde produce fallos reproducibles y costosos</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Diagnóstico por capas antes de corregir código — verificar con herramientas externas primero</a:t>
            </a:r>
            <a:endParaRPr lang="en-US" sz="1800" dirty="0"/>
          </a:p>
          <a:p>
            <a:pPr marL="0" indent="0">
              <a:spcAft>
                <a:spcPts val="1000"/>
              </a:spcAft>
              <a:buNone/>
            </a:pPr>
            <a:r>
              <a:rPr lang="en-US" sz="1800" i="1" dirty="0">
                <a:solidFill>
                  <a:srgbClr val="F72585"/>
                </a:solidFill>
                <a:latin typeface="Calibri" pitchFamily="34" charset="0"/>
                <a:ea typeface="Calibri" pitchFamily="34" charset="-122"/>
                <a:cs typeface="Calibri" pitchFamily="34" charset="-120"/>
              </a:rPr>
              <a:t>“Cambio de proceso, no de intención”</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7258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E17"/>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D60A"/>
          </a:solidFill>
          <a:ln/>
        </p:spPr>
        <p:txBody>
          <a:bodyPr/>
          <a:lstStyle/>
          <a:p>
            <a:endParaRPr lang="es-ES"/>
          </a:p>
        </p:txBody>
      </p:sp>
      <p:sp>
        <p:nvSpPr>
          <p:cNvPr id="3" name="Text 1"/>
          <p:cNvSpPr/>
          <p:nvPr/>
        </p:nvSpPr>
        <p:spPr>
          <a:xfrm>
            <a:off x="685800" y="502920"/>
            <a:ext cx="10515600" cy="82296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Conclusiones</a:t>
            </a:r>
            <a:endParaRPr lang="en-US" sz="3400" dirty="0"/>
          </a:p>
        </p:txBody>
      </p:sp>
      <p:sp>
        <p:nvSpPr>
          <p:cNvPr id="4" name="Text 2"/>
          <p:cNvSpPr/>
          <p:nvPr/>
        </p:nvSpPr>
        <p:spPr>
          <a:xfrm>
            <a:off x="685800" y="1600200"/>
            <a:ext cx="10789920" cy="3291840"/>
          </a:xfrm>
          <a:prstGeom prst="rect">
            <a:avLst/>
          </a:prstGeom>
          <a:noFill/>
          <a:ln/>
        </p:spPr>
        <p:txBody>
          <a:bodyPr wrap="square" rtlCol="0" anchor="ctr"/>
          <a:lstStyle/>
          <a:p>
            <a:pPr marL="228600" indent="-228600">
              <a:spcAft>
                <a:spcPts val="1400"/>
              </a:spcAft>
              <a:buSzPct val="100000"/>
              <a:buChar char="●"/>
            </a:pPr>
            <a:r>
              <a:rPr lang="en-US" sz="1900" dirty="0">
                <a:solidFill>
                  <a:srgbClr val="E7EBF7"/>
                </a:solidFill>
                <a:latin typeface="Calibri" pitchFamily="34" charset="0"/>
                <a:ea typeface="Calibri" pitchFamily="34" charset="-122"/>
                <a:cs typeface="Calibri" pitchFamily="34" charset="-120"/>
              </a:rPr>
              <a:t>Producto: MVP funcional completo — 10/10 User Stories, 14/14 ADR en estado Aceptado</a:t>
            </a:r>
            <a:endParaRPr lang="en-US" sz="1900" dirty="0"/>
          </a:p>
          <a:p>
            <a:pPr marL="228600" indent="-228600">
              <a:spcAft>
                <a:spcPts val="1400"/>
              </a:spcAft>
              <a:buSzPct val="100000"/>
              <a:buChar char="●"/>
            </a:pPr>
            <a:r>
              <a:rPr lang="en-US" sz="1900" dirty="0">
                <a:solidFill>
                  <a:srgbClr val="E7EBF7"/>
                </a:solidFill>
                <a:latin typeface="Calibri" pitchFamily="34" charset="0"/>
                <a:ea typeface="Calibri" pitchFamily="34" charset="-122"/>
                <a:cs typeface="Calibri" pitchFamily="34" charset="-120"/>
              </a:rPr>
              <a:t>Un sistema multiagente gobernado por reglas explícitas no garantiza por sí solo su cumplimiento</a:t>
            </a:r>
            <a:endParaRPr lang="en-US" sz="1900" dirty="0"/>
          </a:p>
          <a:p>
            <a:pPr marL="228600" indent="-228600">
              <a:spcAft>
                <a:spcPts val="1400"/>
              </a:spcAft>
              <a:buSzPct val="100000"/>
              <a:buChar char="●"/>
            </a:pPr>
            <a:r>
              <a:rPr lang="en-US" sz="1900" dirty="0">
                <a:solidFill>
                  <a:srgbClr val="E7EBF7"/>
                </a:solidFill>
                <a:latin typeface="Calibri" pitchFamily="34" charset="0"/>
                <a:ea typeface="Calibri" pitchFamily="34" charset="-122"/>
                <a:cs typeface="Calibri" pitchFamily="34" charset="-120"/>
              </a:rPr>
              <a:t>La gobernanza solo es verificable cuando pasa de estar descrita a estar instrumentada</a:t>
            </a:r>
            <a:endParaRPr lang="en-US" sz="1900" dirty="0"/>
          </a:p>
          <a:p>
            <a:pPr marL="228600" indent="-228600">
              <a:spcAft>
                <a:spcPts val="1400"/>
              </a:spcAft>
              <a:buSzPct val="100000"/>
              <a:buChar char="●"/>
            </a:pPr>
            <a:r>
              <a:rPr lang="en-US" sz="1900" dirty="0">
                <a:solidFill>
                  <a:srgbClr val="E7EBF7"/>
                </a:solidFill>
                <a:latin typeface="Calibri" pitchFamily="34" charset="0"/>
                <a:ea typeface="Calibri" pitchFamily="34" charset="-122"/>
                <a:cs typeface="Calibri" pitchFamily="34" charset="-120"/>
              </a:rPr>
              <a:t>Trabajo futuro: cobertura real de tests, cerrar la brecha de Reviewer, HTTPS en producción, EAS en CI/CD</a:t>
            </a:r>
            <a:endParaRPr lang="en-US" sz="1900" dirty="0"/>
          </a:p>
        </p:txBody>
      </p:sp>
      <p:sp>
        <p:nvSpPr>
          <p:cNvPr id="5" name="Text 3"/>
          <p:cNvSpPr/>
          <p:nvPr/>
        </p:nvSpPr>
        <p:spPr>
          <a:xfrm>
            <a:off x="685800" y="5897880"/>
            <a:ext cx="10515600" cy="548640"/>
          </a:xfrm>
          <a:prstGeom prst="rect">
            <a:avLst/>
          </a:prstGeom>
          <a:noFill/>
          <a:ln/>
        </p:spPr>
        <p:txBody>
          <a:bodyPr wrap="square" rtlCol="0" anchor="ctr"/>
          <a:lstStyle/>
          <a:p>
            <a:pPr marL="0" indent="0">
              <a:buNone/>
            </a:pPr>
            <a:r>
              <a:rPr lang="en-US" sz="2000" i="1" dirty="0">
                <a:solidFill>
                  <a:srgbClr val="FFD60A"/>
                </a:solidFill>
                <a:latin typeface="Calibri" pitchFamily="34" charset="0"/>
                <a:ea typeface="Calibri" pitchFamily="34" charset="-122"/>
                <a:cs typeface="Calibri" pitchFamily="34" charset="-120"/>
              </a:rPr>
              <a:t>Gracias</a:t>
            </a:r>
            <a:endParaRPr lang="en-US" sz="2000" dirty="0"/>
          </a:p>
        </p:txBody>
      </p:sp>
      <p:sp>
        <p:nvSpPr>
          <p:cNvPr id="7" name="Text 4"/>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8" name="Text 5"/>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FD60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3106</Words>
  <Application>Microsoft Office PowerPoint</Application>
  <PresentationFormat>Panorámica</PresentationFormat>
  <Paragraphs>217</Paragraphs>
  <Slides>20</Slides>
  <Notes>20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20</vt:i4>
      </vt:variant>
    </vt:vector>
  </HeadingPairs>
  <TitlesOfParts>
    <vt:vector size="23"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MathMind AI -- TFM</dc:title>
  <dc:subject>PptxGenJS Presentation</dc:subject>
  <dc:creator>Ruben Abad</dc:creator>
  <cp:lastModifiedBy>Ruben Abad</cp:lastModifiedBy>
  <cp:revision>5</cp:revision>
  <dcterms:created xsi:type="dcterms:W3CDTF">2026-08-22T00:16:27Z</dcterms:created>
  <dcterms:modified xsi:type="dcterms:W3CDTF">2026-08-22T01:15:51Z</dcterms:modified>
</cp:coreProperties>
</file>